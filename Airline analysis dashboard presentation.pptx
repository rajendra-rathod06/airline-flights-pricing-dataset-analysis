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387" r:id="rId3"/>
    <p:sldId id="462" r:id="rId4"/>
    <p:sldId id="472" r:id="rId5"/>
    <p:sldId id="455" r:id="rId6"/>
    <p:sldId id="456" r:id="rId7"/>
    <p:sldId id="457" r:id="rId8"/>
    <p:sldId id="458" r:id="rId9"/>
    <p:sldId id="460" r:id="rId10"/>
    <p:sldId id="467" r:id="rId11"/>
    <p:sldId id="465" r:id="rId12"/>
    <p:sldId id="273" r:id="rId13"/>
  </p:sldIdLst>
  <p:sldSz cx="12192000" cy="6858000"/>
  <p:notesSz cx="68580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Roboto Slab" panose="020B0604020202020204" charset="0"/>
      <p:regular r:id="rId19"/>
      <p:bold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5959"/>
    <a:srgbClr val="F5F5F5"/>
    <a:srgbClr val="000000"/>
    <a:srgbClr val="990099"/>
    <a:srgbClr val="CC3399"/>
    <a:srgbClr val="5324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8E5D7D-D24D-44BD-B9C8-A4141ADF33D5}" v="2" dt="2023-05-25T03:10:31.9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6318" autoAdjust="0"/>
  </p:normalViewPr>
  <p:slideViewPr>
    <p:cSldViewPr snapToGrid="0">
      <p:cViewPr varScale="1">
        <p:scale>
          <a:sx n="88" d="100"/>
          <a:sy n="88" d="100"/>
        </p:scale>
        <p:origin x="494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41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A04D3E-AB25-4865-88B1-E5CEDFA4F726}" type="datetimeFigureOut">
              <a:rPr lang="en-IN" smtClean="0"/>
              <a:pPr/>
              <a:t>31-03-2026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8B107A-A654-4768-8807-756F0176A7E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9341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285437" y="265677"/>
            <a:ext cx="11621126" cy="6326646"/>
            <a:chOff x="254476" y="265679"/>
            <a:chExt cx="11621126" cy="6326646"/>
          </a:xfrm>
        </p:grpSpPr>
        <p:sp>
          <p:nvSpPr>
            <p:cNvPr id="8" name="Flowchart: Manual Input 5"/>
            <p:cNvSpPr/>
            <p:nvPr userDrawn="1"/>
          </p:nvSpPr>
          <p:spPr>
            <a:xfrm rot="16200000" flipV="1">
              <a:off x="799317" y="-279162"/>
              <a:ext cx="6326646" cy="7416327"/>
            </a:xfrm>
            <a:custGeom>
              <a:avLst/>
              <a:gdLst>
                <a:gd name="connsiteX0" fmla="*/ 0 w 10000"/>
                <a:gd name="connsiteY0" fmla="*/ 200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2000 h 10000"/>
                <a:gd name="connsiteX0" fmla="*/ 0 w 10000"/>
                <a:gd name="connsiteY0" fmla="*/ 3494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3494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0" y="3494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3494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Flowchart: Manual Input 5"/>
            <p:cNvSpPr/>
            <p:nvPr userDrawn="1"/>
          </p:nvSpPr>
          <p:spPr>
            <a:xfrm rot="16200000" flipH="1">
              <a:off x="5594106" y="302528"/>
              <a:ext cx="5550769" cy="7012223"/>
            </a:xfrm>
            <a:custGeom>
              <a:avLst/>
              <a:gdLst>
                <a:gd name="connsiteX0" fmla="*/ 0 w 10000"/>
                <a:gd name="connsiteY0" fmla="*/ 200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2000 h 10000"/>
                <a:gd name="connsiteX0" fmla="*/ 0 w 10000"/>
                <a:gd name="connsiteY0" fmla="*/ 3494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3494 h 10000"/>
                <a:gd name="connsiteX0" fmla="*/ 15 w 10015"/>
                <a:gd name="connsiteY0" fmla="*/ 3494 h 10469"/>
                <a:gd name="connsiteX1" fmla="*/ 10015 w 10015"/>
                <a:gd name="connsiteY1" fmla="*/ 0 h 10469"/>
                <a:gd name="connsiteX2" fmla="*/ 10015 w 10015"/>
                <a:gd name="connsiteY2" fmla="*/ 10000 h 10469"/>
                <a:gd name="connsiteX3" fmla="*/ 0 w 10015"/>
                <a:gd name="connsiteY3" fmla="*/ 10469 h 10469"/>
                <a:gd name="connsiteX4" fmla="*/ 15 w 10015"/>
                <a:gd name="connsiteY4" fmla="*/ 3494 h 10469"/>
                <a:gd name="connsiteX0" fmla="*/ 15 w 10015"/>
                <a:gd name="connsiteY0" fmla="*/ 3494 h 10494"/>
                <a:gd name="connsiteX1" fmla="*/ 10015 w 10015"/>
                <a:gd name="connsiteY1" fmla="*/ 0 h 10494"/>
                <a:gd name="connsiteX2" fmla="*/ 9984 w 10015"/>
                <a:gd name="connsiteY2" fmla="*/ 10494 h 10494"/>
                <a:gd name="connsiteX3" fmla="*/ 0 w 10015"/>
                <a:gd name="connsiteY3" fmla="*/ 10469 h 10494"/>
                <a:gd name="connsiteX4" fmla="*/ 15 w 10015"/>
                <a:gd name="connsiteY4" fmla="*/ 3494 h 1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5" h="10494">
                  <a:moveTo>
                    <a:pt x="15" y="3494"/>
                  </a:moveTo>
                  <a:lnTo>
                    <a:pt x="10015" y="0"/>
                  </a:lnTo>
                  <a:cubicBezTo>
                    <a:pt x="10005" y="3498"/>
                    <a:pt x="9994" y="6996"/>
                    <a:pt x="9984" y="10494"/>
                  </a:cubicBezTo>
                  <a:lnTo>
                    <a:pt x="0" y="10469"/>
                  </a:lnTo>
                  <a:lnTo>
                    <a:pt x="15" y="349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1984375"/>
            <a:ext cx="59055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4564063"/>
            <a:ext cx="5905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83" b="37125"/>
          <a:stretch/>
        </p:blipFill>
        <p:spPr>
          <a:xfrm>
            <a:off x="254475" y="3208830"/>
            <a:ext cx="6915786" cy="337519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639" y="379813"/>
            <a:ext cx="2760542" cy="111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703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4476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639" y="379813"/>
            <a:ext cx="2444161" cy="983068"/>
          </a:xfrm>
          <a:prstGeom prst="rect">
            <a:avLst/>
          </a:prstGeom>
        </p:spPr>
      </p:pic>
      <p:cxnSp>
        <p:nvCxnSpPr>
          <p:cNvPr id="11" name="Straight Connector 10"/>
          <p:cNvCxnSpPr/>
          <p:nvPr userDrawn="1"/>
        </p:nvCxnSpPr>
        <p:spPr>
          <a:xfrm>
            <a:off x="3090333" y="1049867"/>
            <a:ext cx="867833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386667" y="379812"/>
            <a:ext cx="8382000" cy="670055"/>
          </a:xfrm>
        </p:spPr>
        <p:txBody>
          <a:bodyPr>
            <a:normAutofit/>
          </a:bodyPr>
          <a:lstStyle>
            <a:lvl1pPr algn="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254475" y="6502400"/>
            <a:ext cx="11683050" cy="7043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itle 2"/>
          <p:cNvSpPr txBox="1">
            <a:spLocks/>
          </p:cNvSpPr>
          <p:nvPr userDrawn="1"/>
        </p:nvSpPr>
        <p:spPr>
          <a:xfrm>
            <a:off x="7956645" y="6476902"/>
            <a:ext cx="3980880" cy="4356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IN" sz="1200" b="0" dirty="0">
                <a:solidFill>
                  <a:srgbClr val="595959"/>
                </a:solidFill>
              </a:rPr>
              <a:t>REVA Academy for Corporate Excellence (RACE)</a:t>
            </a:r>
          </a:p>
        </p:txBody>
      </p:sp>
    </p:spTree>
    <p:extLst>
      <p:ext uri="{BB962C8B-B14F-4D97-AF65-F5344CB8AC3E}">
        <p14:creationId xmlns:p14="http://schemas.microsoft.com/office/powerpoint/2010/main" val="1783210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4476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Rectangle 1"/>
          <p:cNvSpPr/>
          <p:nvPr userDrawn="1"/>
        </p:nvSpPr>
        <p:spPr>
          <a:xfrm>
            <a:off x="254475" y="262783"/>
            <a:ext cx="3597858" cy="633243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noFill/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0262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4476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Rectangle 1"/>
          <p:cNvSpPr/>
          <p:nvPr userDrawn="1"/>
        </p:nvSpPr>
        <p:spPr>
          <a:xfrm>
            <a:off x="254475" y="262783"/>
            <a:ext cx="2686688" cy="633243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noFill/>
              </a:ln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03"/>
          <a:stretch/>
        </p:blipFill>
        <p:spPr>
          <a:xfrm>
            <a:off x="245097" y="1534163"/>
            <a:ext cx="2393627" cy="4768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244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17672-D273-40A8-9069-31B0837D5743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49BB6-5787-495D-AC20-623BD900045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47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17672-D273-40A8-9069-31B0837D5743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49BB6-5787-495D-AC20-623BD900045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455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17672-D273-40A8-9069-31B0837D5743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49BB6-5787-495D-AC20-623BD900045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294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17672-D273-40A8-9069-31B0837D5743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49BB6-5787-495D-AC20-623BD900045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221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17672-D273-40A8-9069-31B0837D5743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49BB6-5787-495D-AC20-623BD900045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463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17672-D273-40A8-9069-31B0837D5743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49BB6-5787-495D-AC20-623BD900045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232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17672-D273-40A8-9069-31B0837D5743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49BB6-5787-495D-AC20-623BD900045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5522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17672-D273-40A8-9069-31B0837D5743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49BB6-5787-495D-AC20-623BD900045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5575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17672-D273-40A8-9069-31B0837D5743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49BB6-5787-495D-AC20-623BD900045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7211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FBAFD22-97B6-4BF3-9496-41E458151A6B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191579" y="92974"/>
            <a:ext cx="2926334" cy="780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4234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21C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6" name="Rectangle 5"/>
          <p:cNvSpPr/>
          <p:nvPr userDrawn="1"/>
        </p:nvSpPr>
        <p:spPr>
          <a:xfrm>
            <a:off x="123825" y="138112"/>
            <a:ext cx="11944351" cy="65817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403412" y="1049867"/>
            <a:ext cx="1136525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386667" y="379812"/>
            <a:ext cx="8382000" cy="670055"/>
          </a:xfrm>
        </p:spPr>
        <p:txBody>
          <a:bodyPr>
            <a:normAutofit/>
          </a:bodyPr>
          <a:lstStyle>
            <a:lvl1pPr algn="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17215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838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317672-D273-40A8-9069-31B0837D5743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1D3BC5-34EF-44B2-83AC-D5533E46F0A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0419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8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84" r:id="rId14"/>
    <p:sldLayoutId id="2147483685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1881" y="2363687"/>
            <a:ext cx="6354452" cy="1389207"/>
          </a:xfrm>
        </p:spPr>
        <p:txBody>
          <a:bodyPr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8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Topic:Airline </a:t>
            </a:r>
            <a:r>
              <a: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Dataset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54994" y="3752894"/>
            <a:ext cx="5905500" cy="762076"/>
          </a:xfrm>
        </p:spPr>
        <p:txBody>
          <a:bodyPr>
            <a:noAutofit/>
          </a:bodyPr>
          <a:lstStyle/>
          <a:p>
            <a:pPr algn="r"/>
            <a:r>
              <a:rPr lang="en-IN" sz="2000" b="1" dirty="0" smtClean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Rajendra Rathod </a:t>
            </a:r>
          </a:p>
          <a:p>
            <a:pPr algn="r"/>
            <a:r>
              <a:rPr lang="en-GB" sz="2000" b="1" dirty="0" smtClean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FT </a:t>
            </a:r>
            <a:r>
              <a:rPr lang="en-GB" sz="20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– 04 (M tech in Cyber Security)</a:t>
            </a:r>
          </a:p>
          <a:p>
            <a:pPr algn="r"/>
            <a:r>
              <a:rPr lang="en-GB" sz="20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Data Management System using Excel and Power BI</a:t>
            </a:r>
            <a:endParaRPr lang="en-US" sz="2000" b="1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5485425" y="6119446"/>
            <a:ext cx="6175069" cy="3526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00000"/>
              </a:lnSpc>
            </a:pPr>
            <a:r>
              <a:rPr lang="en-IN" sz="1600" dirty="0">
                <a:solidFill>
                  <a:schemeClr val="bg1"/>
                </a:solidFill>
                <a:ea typeface="Calibri" panose="020F0502020204030204" pitchFamily="34" charset="0"/>
                <a:cs typeface="Arial" panose="020B0604020202020204" pitchFamily="34" charset="0"/>
              </a:rPr>
              <a:t>www.race.reva.edu.in</a:t>
            </a:r>
          </a:p>
        </p:txBody>
      </p:sp>
      <p:sp>
        <p:nvSpPr>
          <p:cNvPr id="8" name="Title 2"/>
          <p:cNvSpPr txBox="1">
            <a:spLocks/>
          </p:cNvSpPr>
          <p:nvPr/>
        </p:nvSpPr>
        <p:spPr>
          <a:xfrm>
            <a:off x="6646333" y="271291"/>
            <a:ext cx="5267501" cy="579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IN" sz="1400" b="1" dirty="0">
                <a:solidFill>
                  <a:srgbClr val="595959"/>
                </a:solidFill>
              </a:rPr>
              <a:t>REVA Academy for Corporate Excellence (RACE)</a:t>
            </a:r>
          </a:p>
        </p:txBody>
      </p:sp>
      <p:sp>
        <p:nvSpPr>
          <p:cNvPr id="9" name="Title 2"/>
          <p:cNvSpPr txBox="1">
            <a:spLocks/>
          </p:cNvSpPr>
          <p:nvPr/>
        </p:nvSpPr>
        <p:spPr>
          <a:xfrm>
            <a:off x="383177" y="3361508"/>
            <a:ext cx="4484914" cy="62701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80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Date: 25-03-2026</a:t>
            </a:r>
          </a:p>
        </p:txBody>
      </p:sp>
    </p:spTree>
    <p:extLst>
      <p:ext uri="{BB962C8B-B14F-4D97-AF65-F5344CB8AC3E}">
        <p14:creationId xmlns:p14="http://schemas.microsoft.com/office/powerpoint/2010/main" val="1697186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Contents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F06B10-F2B9-45AE-BAEE-3A25BDC40F60}"/>
              </a:ext>
            </a:extLst>
          </p:cNvPr>
          <p:cNvGrpSpPr/>
          <p:nvPr/>
        </p:nvGrpSpPr>
        <p:grpSpPr>
          <a:xfrm>
            <a:off x="531845" y="1727063"/>
            <a:ext cx="4189445" cy="798591"/>
            <a:chOff x="2083732" y="1669225"/>
            <a:chExt cx="5148368" cy="798591"/>
          </a:xfrm>
        </p:grpSpPr>
        <p:sp>
          <p:nvSpPr>
            <p:cNvPr id="10" name="TextBox 9"/>
            <p:cNvSpPr txBox="1"/>
            <p:nvPr/>
          </p:nvSpPr>
          <p:spPr>
            <a:xfrm>
              <a:off x="2724408" y="2213900"/>
              <a:ext cx="4507692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altLang="ko-K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163099" y="1789403"/>
              <a:ext cx="4050528" cy="430887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GB" altLang="ko-KR" sz="2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Introduction</a:t>
              </a:r>
              <a:endParaRPr lang="ko-KR" alt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083732" y="1669225"/>
              <a:ext cx="978845" cy="6463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01</a:t>
              </a:r>
              <a:endParaRPr lang="ko-KR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8C572D2-FF82-4F09-A87C-3D3A60EF1C3D}"/>
              </a:ext>
            </a:extLst>
          </p:cNvPr>
          <p:cNvGrpSpPr/>
          <p:nvPr/>
        </p:nvGrpSpPr>
        <p:grpSpPr>
          <a:xfrm>
            <a:off x="452076" y="2727087"/>
            <a:ext cx="5305863" cy="646331"/>
            <a:chOff x="1904097" y="1543602"/>
            <a:chExt cx="5305863" cy="646331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FCF8A9D-7E22-4279-8535-9C4F0258D7B9}"/>
                </a:ext>
              </a:extLst>
            </p:cNvPr>
            <p:cNvSpPr txBox="1"/>
            <p:nvPr/>
          </p:nvSpPr>
          <p:spPr>
            <a:xfrm>
              <a:off x="2858520" y="1649433"/>
              <a:ext cx="4351440" cy="430887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GB" altLang="ko-KR" sz="2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Objectives</a:t>
              </a:r>
              <a:endParaRPr lang="ko-KR" alt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E6D74D0-F347-4E58-A9D8-7E9536FAAEC3}"/>
                </a:ext>
              </a:extLst>
            </p:cNvPr>
            <p:cNvSpPr txBox="1"/>
            <p:nvPr/>
          </p:nvSpPr>
          <p:spPr>
            <a:xfrm>
              <a:off x="1904097" y="1543602"/>
              <a:ext cx="958096" cy="6463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02</a:t>
              </a:r>
              <a:endParaRPr lang="ko-KR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66517ED-D341-498B-BF06-476933A43F6B}"/>
              </a:ext>
            </a:extLst>
          </p:cNvPr>
          <p:cNvGrpSpPr/>
          <p:nvPr/>
        </p:nvGrpSpPr>
        <p:grpSpPr>
          <a:xfrm>
            <a:off x="453514" y="3806818"/>
            <a:ext cx="5255529" cy="646331"/>
            <a:chOff x="1924192" y="1469694"/>
            <a:chExt cx="5255529" cy="646331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90EC436-1B46-49D9-A7E4-ADECB5E929DF}"/>
                </a:ext>
              </a:extLst>
            </p:cNvPr>
            <p:cNvSpPr txBox="1"/>
            <p:nvPr/>
          </p:nvSpPr>
          <p:spPr>
            <a:xfrm>
              <a:off x="2846944" y="1572529"/>
              <a:ext cx="4332777" cy="430887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GB" altLang="ko-KR" sz="2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Dataset Overview</a:t>
              </a:r>
              <a:endParaRPr lang="ko-KR" alt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F831A6C-272F-4BDD-8F88-4227AAB90FB2}"/>
                </a:ext>
              </a:extLst>
            </p:cNvPr>
            <p:cNvSpPr txBox="1"/>
            <p:nvPr/>
          </p:nvSpPr>
          <p:spPr>
            <a:xfrm>
              <a:off x="1924192" y="1469694"/>
              <a:ext cx="958096" cy="6463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03</a:t>
              </a:r>
              <a:endParaRPr lang="ko-KR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DEE4032-D811-4C99-AE03-98362C887B64}"/>
              </a:ext>
            </a:extLst>
          </p:cNvPr>
          <p:cNvGrpSpPr/>
          <p:nvPr/>
        </p:nvGrpSpPr>
        <p:grpSpPr>
          <a:xfrm>
            <a:off x="478683" y="4877270"/>
            <a:ext cx="5357382" cy="1109300"/>
            <a:chOff x="1874718" y="1358516"/>
            <a:chExt cx="5357382" cy="1109300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D9D096A-3B24-4BB9-A2CC-E0717D579571}"/>
                </a:ext>
              </a:extLst>
            </p:cNvPr>
            <p:cNvSpPr txBox="1"/>
            <p:nvPr/>
          </p:nvSpPr>
          <p:spPr>
            <a:xfrm>
              <a:off x="2724408" y="2213900"/>
              <a:ext cx="4507692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altLang="ko-K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DFCC804-6C1D-4C67-B274-1978635DA6F9}"/>
                </a:ext>
              </a:extLst>
            </p:cNvPr>
            <p:cNvSpPr txBox="1"/>
            <p:nvPr/>
          </p:nvSpPr>
          <p:spPr>
            <a:xfrm>
              <a:off x="2784348" y="1438806"/>
              <a:ext cx="4435413" cy="40011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Problem Statement</a:t>
              </a:r>
              <a:endPara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B7AC64B-48B2-4F4F-A626-7901145018C6}"/>
                </a:ext>
              </a:extLst>
            </p:cNvPr>
            <p:cNvSpPr txBox="1"/>
            <p:nvPr/>
          </p:nvSpPr>
          <p:spPr>
            <a:xfrm>
              <a:off x="1874718" y="1358516"/>
              <a:ext cx="958096" cy="6463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04</a:t>
              </a:r>
              <a:endParaRPr lang="ko-KR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7F06B10-F2B9-45AE-BAEE-3A25BDC40F60}"/>
              </a:ext>
            </a:extLst>
          </p:cNvPr>
          <p:cNvGrpSpPr/>
          <p:nvPr/>
        </p:nvGrpSpPr>
        <p:grpSpPr>
          <a:xfrm>
            <a:off x="5643422" y="1745581"/>
            <a:ext cx="5632804" cy="864047"/>
            <a:chOff x="1599296" y="1603769"/>
            <a:chExt cx="5632804" cy="864047"/>
          </a:xfrm>
        </p:grpSpPr>
        <p:sp>
          <p:nvSpPr>
            <p:cNvPr id="26" name="TextBox 25"/>
            <p:cNvSpPr txBox="1"/>
            <p:nvPr/>
          </p:nvSpPr>
          <p:spPr>
            <a:xfrm>
              <a:off x="2724408" y="2213900"/>
              <a:ext cx="4507692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altLang="ko-K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656919" y="1688913"/>
              <a:ext cx="4507692" cy="40011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Objectives</a:t>
              </a:r>
              <a:endPara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599296" y="1603769"/>
              <a:ext cx="958096" cy="6463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05</a:t>
              </a:r>
              <a:endParaRPr lang="ko-KR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8C572D2-FF82-4F09-A87C-3D3A60EF1C3D}"/>
              </a:ext>
            </a:extLst>
          </p:cNvPr>
          <p:cNvGrpSpPr/>
          <p:nvPr/>
        </p:nvGrpSpPr>
        <p:grpSpPr>
          <a:xfrm>
            <a:off x="5723463" y="2795416"/>
            <a:ext cx="5403474" cy="949191"/>
            <a:chOff x="1828626" y="1518625"/>
            <a:chExt cx="5403474" cy="949191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C6F8FA6-DB08-4060-9832-77D337D2BF55}"/>
                </a:ext>
              </a:extLst>
            </p:cNvPr>
            <p:cNvSpPr txBox="1"/>
            <p:nvPr/>
          </p:nvSpPr>
          <p:spPr>
            <a:xfrm>
              <a:off x="2724408" y="2213900"/>
              <a:ext cx="4507692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altLang="ko-K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FCF8A9D-7E22-4279-8535-9C4F0258D7B9}"/>
                </a:ext>
              </a:extLst>
            </p:cNvPr>
            <p:cNvSpPr txBox="1"/>
            <p:nvPr/>
          </p:nvSpPr>
          <p:spPr>
            <a:xfrm>
              <a:off x="2792642" y="1596326"/>
              <a:ext cx="4339931" cy="430887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GB" altLang="ko-KR" sz="2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Dashboard layout</a:t>
              </a:r>
              <a:endParaRPr lang="ko-KR" alt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E6D74D0-F347-4E58-A9D8-7E9536FAAEC3}"/>
                </a:ext>
              </a:extLst>
            </p:cNvPr>
            <p:cNvSpPr txBox="1"/>
            <p:nvPr/>
          </p:nvSpPr>
          <p:spPr>
            <a:xfrm>
              <a:off x="1828626" y="1518625"/>
              <a:ext cx="858569" cy="6463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06</a:t>
              </a:r>
              <a:endParaRPr lang="ko-KR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66517ED-D341-498B-BF06-476933A43F6B}"/>
              </a:ext>
            </a:extLst>
          </p:cNvPr>
          <p:cNvGrpSpPr/>
          <p:nvPr/>
        </p:nvGrpSpPr>
        <p:grpSpPr>
          <a:xfrm>
            <a:off x="5673699" y="3790375"/>
            <a:ext cx="5639848" cy="1051889"/>
            <a:chOff x="1778864" y="1369274"/>
            <a:chExt cx="5639848" cy="1051889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DDE46A4-1F4F-419B-85C6-1ABD9A677D50}"/>
                </a:ext>
              </a:extLst>
            </p:cNvPr>
            <p:cNvSpPr txBox="1"/>
            <p:nvPr/>
          </p:nvSpPr>
          <p:spPr>
            <a:xfrm>
              <a:off x="2911020" y="2167247"/>
              <a:ext cx="4507692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altLang="ko-K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90EC436-1B46-49D9-A7E4-ADECB5E929DF}"/>
                </a:ext>
              </a:extLst>
            </p:cNvPr>
            <p:cNvSpPr txBox="1"/>
            <p:nvPr/>
          </p:nvSpPr>
          <p:spPr>
            <a:xfrm>
              <a:off x="2792644" y="1522771"/>
              <a:ext cx="4407418" cy="44521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GB" altLang="ko-KR" sz="2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Recommendations</a:t>
              </a:r>
              <a:endParaRPr lang="ko-KR" alt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F831A6C-272F-4BDD-8F88-4227AAB90FB2}"/>
                </a:ext>
              </a:extLst>
            </p:cNvPr>
            <p:cNvSpPr txBox="1"/>
            <p:nvPr/>
          </p:nvSpPr>
          <p:spPr>
            <a:xfrm>
              <a:off x="1778864" y="1369274"/>
              <a:ext cx="958096" cy="6463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07</a:t>
              </a:r>
              <a:endParaRPr lang="ko-KR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DEE4032-D811-4C99-AE03-98362C887B64}"/>
              </a:ext>
            </a:extLst>
          </p:cNvPr>
          <p:cNvGrpSpPr/>
          <p:nvPr/>
        </p:nvGrpSpPr>
        <p:grpSpPr>
          <a:xfrm>
            <a:off x="5695454" y="4864682"/>
            <a:ext cx="5331956" cy="1218304"/>
            <a:chOff x="1900144" y="1249512"/>
            <a:chExt cx="5331956" cy="1218304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D9D096A-3B24-4BB9-A2CC-E0717D579571}"/>
                </a:ext>
              </a:extLst>
            </p:cNvPr>
            <p:cNvSpPr txBox="1"/>
            <p:nvPr/>
          </p:nvSpPr>
          <p:spPr>
            <a:xfrm>
              <a:off x="2724408" y="2213900"/>
              <a:ext cx="4507692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altLang="ko-K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3DFCC804-6C1D-4C67-B274-1978635DA6F9}"/>
                </a:ext>
              </a:extLst>
            </p:cNvPr>
            <p:cNvSpPr txBox="1"/>
            <p:nvPr/>
          </p:nvSpPr>
          <p:spPr>
            <a:xfrm>
              <a:off x="2705936" y="1789403"/>
              <a:ext cx="4507692" cy="40011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endPara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B7AC64B-48B2-4F4F-A626-7901145018C6}"/>
                </a:ext>
              </a:extLst>
            </p:cNvPr>
            <p:cNvSpPr txBox="1"/>
            <p:nvPr/>
          </p:nvSpPr>
          <p:spPr>
            <a:xfrm>
              <a:off x="1900144" y="1249512"/>
              <a:ext cx="958096" cy="6463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08</a:t>
              </a:r>
              <a:endParaRPr lang="ko-KR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6717492" y="4936764"/>
            <a:ext cx="361643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  <a:endParaRPr lang="en-US" sz="2200" dirty="0">
              <a:solidFill>
                <a:schemeClr val="tx1">
                  <a:lumMod val="75000"/>
                  <a:lumOff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8360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90" y="1815179"/>
            <a:ext cx="1056909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The Airline Dataset Analysis </a:t>
            </a: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Dashboard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focuses on understanding flight pricing patterns and travel behavior. </a:t>
            </a:r>
            <a:endParaRPr lang="en-US" sz="24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4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4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Using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Power BI, the dataset is analyzed to identify key factors affecting ticket prices such as class, duration, stops, and booking time.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It is mainly used to analyze 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flight pricing, travel patterns, and customer booking behavior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94430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05BEC-39E2-2CA8-3D4D-56F0AACC3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859E33-87A2-A606-DDF5-0D52B354D08B}"/>
              </a:ext>
            </a:extLst>
          </p:cNvPr>
          <p:cNvSpPr txBox="1"/>
          <p:nvPr/>
        </p:nvSpPr>
        <p:spPr>
          <a:xfrm>
            <a:off x="914400" y="1539551"/>
            <a:ext cx="9106678" cy="2805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Flight ticket prices vary significantly based on multiple factors, making it difficult for customers to make cost-effective decisions. </a:t>
            </a:r>
            <a:endParaRPr lang="en-US" sz="24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This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project aims to analyze these variations and uncover pricing patterns.</a:t>
            </a:r>
            <a:endParaRPr lang="en-I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5466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Objectives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E336F6C-C752-E46D-35BE-5317B5E185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094" y="1358743"/>
            <a:ext cx="9209314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/>
              <a:t>To analyze airline ticket pricing trends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/>
              <a:t>To identify factors affecting flight prices</a:t>
            </a:r>
            <a:r>
              <a:rPr lang="en-US" sz="2000" b="1" dirty="0" smtClean="0"/>
              <a:t>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/>
              <a:t>To compare airlines based on cost and performance</a:t>
            </a:r>
            <a:r>
              <a:rPr lang="en-US" sz="2000" dirty="0" smtClean="0"/>
              <a:t>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sz="2000" dirty="0" smtClean="0"/>
              <a:t> To </a:t>
            </a:r>
            <a:r>
              <a:rPr lang="en-US" sz="2000" dirty="0"/>
              <a:t>create an interactive dashboard for insights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sz="2000" dirty="0" smtClean="0"/>
              <a:t> To </a:t>
            </a:r>
            <a:r>
              <a:rPr lang="en-US" sz="2000" dirty="0"/>
              <a:t>study the impact of booking timing (days left)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1336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Dataset Overview</a:t>
            </a:r>
          </a:p>
        </p:txBody>
      </p:sp>
      <p:sp>
        <p:nvSpPr>
          <p:cNvPr id="118" name="Parallelogram 30">
            <a:extLst>
              <a:ext uri="{FF2B5EF4-FFF2-40B4-BE49-F238E27FC236}">
                <a16:creationId xmlns:a16="http://schemas.microsoft.com/office/drawing/2014/main" id="{B42520F8-7309-4EC7-A3BA-B52127B270B6}"/>
              </a:ext>
            </a:extLst>
          </p:cNvPr>
          <p:cNvSpPr/>
          <p:nvPr/>
        </p:nvSpPr>
        <p:spPr>
          <a:xfrm flipH="1">
            <a:off x="7489325" y="3110504"/>
            <a:ext cx="351685" cy="352555"/>
          </a:xfrm>
          <a:custGeom>
            <a:avLst/>
            <a:gdLst/>
            <a:ahLst/>
            <a:cxnLst/>
            <a:rect l="l" t="t" r="r" b="b"/>
            <a:pathLst>
              <a:path w="3240000" h="3248012">
                <a:moveTo>
                  <a:pt x="712553" y="858820"/>
                </a:moveTo>
                <a:cubicBezTo>
                  <a:pt x="727950" y="858820"/>
                  <a:pt x="743348" y="864694"/>
                  <a:pt x="755096" y="876443"/>
                </a:cubicBezTo>
                <a:lnTo>
                  <a:pt x="1193671" y="1315016"/>
                </a:lnTo>
                <a:lnTo>
                  <a:pt x="1509169" y="999517"/>
                </a:lnTo>
                <a:cubicBezTo>
                  <a:pt x="1509517" y="999169"/>
                  <a:pt x="1509868" y="998827"/>
                  <a:pt x="1510414" y="998691"/>
                </a:cubicBezTo>
                <a:lnTo>
                  <a:pt x="1518932" y="988592"/>
                </a:lnTo>
                <a:cubicBezTo>
                  <a:pt x="1531945" y="978263"/>
                  <a:pt x="1547912" y="974188"/>
                  <a:pt x="1563209" y="975946"/>
                </a:cubicBezTo>
                <a:cubicBezTo>
                  <a:pt x="1578505" y="977705"/>
                  <a:pt x="1593131" y="985299"/>
                  <a:pt x="1603459" y="998313"/>
                </a:cubicBezTo>
                <a:lnTo>
                  <a:pt x="1892346" y="1362277"/>
                </a:lnTo>
                <a:lnTo>
                  <a:pt x="2149759" y="1177067"/>
                </a:lnTo>
                <a:lnTo>
                  <a:pt x="2151621" y="1174867"/>
                </a:lnTo>
                <a:cubicBezTo>
                  <a:pt x="2159033" y="1169006"/>
                  <a:pt x="2167397" y="1165168"/>
                  <a:pt x="2176160" y="1163802"/>
                </a:cubicBezTo>
                <a:cubicBezTo>
                  <a:pt x="2177188" y="1163485"/>
                  <a:pt x="2178237" y="1163269"/>
                  <a:pt x="2179375" y="1163558"/>
                </a:cubicBezTo>
                <a:cubicBezTo>
                  <a:pt x="2184768" y="1161771"/>
                  <a:pt x="2190389" y="1161654"/>
                  <a:pt x="2195921" y="1162300"/>
                </a:cubicBezTo>
                <a:cubicBezTo>
                  <a:pt x="2196662" y="1162386"/>
                  <a:pt x="2197402" y="1162487"/>
                  <a:pt x="2198081" y="1162987"/>
                </a:cubicBezTo>
                <a:cubicBezTo>
                  <a:pt x="2202197" y="1163290"/>
                  <a:pt x="2206218" y="1164270"/>
                  <a:pt x="2209739" y="1166702"/>
                </a:cubicBezTo>
                <a:cubicBezTo>
                  <a:pt x="2213116" y="1166857"/>
                  <a:pt x="2216051" y="1168231"/>
                  <a:pt x="2218766" y="1170038"/>
                </a:cubicBezTo>
                <a:cubicBezTo>
                  <a:pt x="2225342" y="1173160"/>
                  <a:pt x="2231151" y="1177875"/>
                  <a:pt x="2235489" y="1184194"/>
                </a:cubicBezTo>
                <a:lnTo>
                  <a:pt x="2236132" y="1184737"/>
                </a:lnTo>
                <a:lnTo>
                  <a:pt x="2236287" y="1184934"/>
                </a:lnTo>
                <a:lnTo>
                  <a:pt x="2238712" y="1187183"/>
                </a:lnTo>
                <a:cubicBezTo>
                  <a:pt x="2239115" y="1187744"/>
                  <a:pt x="2239507" y="1188310"/>
                  <a:pt x="2239574" y="1189090"/>
                </a:cubicBezTo>
                <a:lnTo>
                  <a:pt x="2540580" y="1569705"/>
                </a:lnTo>
                <a:cubicBezTo>
                  <a:pt x="2561191" y="1595768"/>
                  <a:pt x="2556772" y="1633604"/>
                  <a:pt x="2530710" y="1654215"/>
                </a:cubicBezTo>
                <a:cubicBezTo>
                  <a:pt x="2504647" y="1674827"/>
                  <a:pt x="2466811" y="1670408"/>
                  <a:pt x="2446199" y="1644345"/>
                </a:cubicBezTo>
                <a:lnTo>
                  <a:pt x="2177884" y="1305067"/>
                </a:lnTo>
                <a:lnTo>
                  <a:pt x="1934804" y="1479967"/>
                </a:lnTo>
                <a:cubicBezTo>
                  <a:pt x="1927367" y="1485317"/>
                  <a:pt x="1919123" y="1488726"/>
                  <a:pt x="1910598" y="1489881"/>
                </a:cubicBezTo>
                <a:cubicBezTo>
                  <a:pt x="1885257" y="1507791"/>
                  <a:pt x="1850121" y="1502627"/>
                  <a:pt x="1830495" y="1477903"/>
                </a:cubicBezTo>
                <a:lnTo>
                  <a:pt x="1551924" y="1126933"/>
                </a:lnTo>
                <a:lnTo>
                  <a:pt x="1239041" y="1439816"/>
                </a:lnTo>
                <a:cubicBezTo>
                  <a:pt x="1226569" y="1452288"/>
                  <a:pt x="1209983" y="1458139"/>
                  <a:pt x="1193674" y="1456888"/>
                </a:cubicBezTo>
                <a:cubicBezTo>
                  <a:pt x="1177363" y="1458142"/>
                  <a:pt x="1160774" y="1452290"/>
                  <a:pt x="1148301" y="1439816"/>
                </a:cubicBezTo>
                <a:lnTo>
                  <a:pt x="670011" y="961527"/>
                </a:lnTo>
                <a:cubicBezTo>
                  <a:pt x="646515" y="938031"/>
                  <a:pt x="646515" y="899938"/>
                  <a:pt x="670011" y="876442"/>
                </a:cubicBezTo>
                <a:cubicBezTo>
                  <a:pt x="681760" y="864694"/>
                  <a:pt x="697157" y="858820"/>
                  <a:pt x="712553" y="858820"/>
                </a:cubicBezTo>
                <a:close/>
                <a:moveTo>
                  <a:pt x="2790000" y="699581"/>
                </a:moveTo>
                <a:lnTo>
                  <a:pt x="450000" y="699581"/>
                </a:lnTo>
                <a:lnTo>
                  <a:pt x="450000" y="1851581"/>
                </a:lnTo>
                <a:lnTo>
                  <a:pt x="2790000" y="1851581"/>
                </a:lnTo>
                <a:close/>
                <a:moveTo>
                  <a:pt x="2987972" y="519497"/>
                </a:moveTo>
                <a:lnTo>
                  <a:pt x="2987972" y="2031665"/>
                </a:lnTo>
                <a:lnTo>
                  <a:pt x="252028" y="2031665"/>
                </a:lnTo>
                <a:lnTo>
                  <a:pt x="252028" y="519497"/>
                </a:lnTo>
                <a:close/>
                <a:moveTo>
                  <a:pt x="1620000" y="0"/>
                </a:moveTo>
                <a:cubicBezTo>
                  <a:pt x="1540462" y="0"/>
                  <a:pt x="1475984" y="64478"/>
                  <a:pt x="1475984" y="144016"/>
                </a:cubicBezTo>
                <a:lnTo>
                  <a:pt x="1475984" y="267469"/>
                </a:lnTo>
                <a:lnTo>
                  <a:pt x="0" y="267469"/>
                </a:lnTo>
                <a:lnTo>
                  <a:pt x="0" y="2283693"/>
                </a:lnTo>
                <a:lnTo>
                  <a:pt x="852101" y="2283693"/>
                </a:lnTo>
                <a:lnTo>
                  <a:pt x="323771" y="3248012"/>
                </a:lnTo>
                <a:lnTo>
                  <a:pt x="621526" y="3248012"/>
                </a:lnTo>
                <a:lnTo>
                  <a:pt x="1149856" y="2283693"/>
                </a:lnTo>
                <a:lnTo>
                  <a:pt x="2090146" y="2283693"/>
                </a:lnTo>
                <a:lnTo>
                  <a:pt x="2618476" y="3248012"/>
                </a:lnTo>
                <a:lnTo>
                  <a:pt x="2916231" y="3248012"/>
                </a:lnTo>
                <a:lnTo>
                  <a:pt x="2387901" y="2283693"/>
                </a:lnTo>
                <a:lnTo>
                  <a:pt x="3240000" y="2283693"/>
                </a:lnTo>
                <a:lnTo>
                  <a:pt x="3240000" y="267469"/>
                </a:lnTo>
                <a:lnTo>
                  <a:pt x="1764016" y="267469"/>
                </a:lnTo>
                <a:lnTo>
                  <a:pt x="1764016" y="144016"/>
                </a:lnTo>
                <a:cubicBezTo>
                  <a:pt x="1764016" y="64478"/>
                  <a:pt x="1699538" y="0"/>
                  <a:pt x="1620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latin typeface="+mj-lt"/>
            </a:endParaRPr>
          </a:p>
        </p:txBody>
      </p:sp>
      <p:sp>
        <p:nvSpPr>
          <p:cNvPr id="119" name="Rectangle 16">
            <a:extLst>
              <a:ext uri="{FF2B5EF4-FFF2-40B4-BE49-F238E27FC236}">
                <a16:creationId xmlns:a16="http://schemas.microsoft.com/office/drawing/2014/main" id="{31B88AF4-8B22-4BF9-81B4-A152E80FF8D8}"/>
              </a:ext>
            </a:extLst>
          </p:cNvPr>
          <p:cNvSpPr/>
          <p:nvPr/>
        </p:nvSpPr>
        <p:spPr>
          <a:xfrm rot="2700000">
            <a:off x="5267944" y="3963197"/>
            <a:ext cx="265920" cy="476745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latin typeface="+mj-lt"/>
            </a:endParaRPr>
          </a:p>
        </p:txBody>
      </p:sp>
      <p:sp>
        <p:nvSpPr>
          <p:cNvPr id="121" name="Round Same Side Corner Rectangle 11">
            <a:extLst>
              <a:ext uri="{FF2B5EF4-FFF2-40B4-BE49-F238E27FC236}">
                <a16:creationId xmlns:a16="http://schemas.microsoft.com/office/drawing/2014/main" id="{282EBEB6-6F3B-48A2-B70B-7B4509461478}"/>
              </a:ext>
            </a:extLst>
          </p:cNvPr>
          <p:cNvSpPr>
            <a:spLocks noChangeAspect="1"/>
          </p:cNvSpPr>
          <p:nvPr/>
        </p:nvSpPr>
        <p:spPr>
          <a:xfrm rot="9900000">
            <a:off x="4402247" y="3114019"/>
            <a:ext cx="396000" cy="336326"/>
          </a:xfrm>
          <a:custGeom>
            <a:avLst/>
            <a:gdLst/>
            <a:ahLst/>
            <a:cxnLst/>
            <a:rect l="l" t="t" r="r" b="b"/>
            <a:pathLst>
              <a:path w="2911009" h="2472345">
                <a:moveTo>
                  <a:pt x="2219598" y="1335309"/>
                </a:moveTo>
                <a:lnTo>
                  <a:pt x="2219598" y="1222573"/>
                </a:lnTo>
                <a:cubicBezTo>
                  <a:pt x="2219598" y="1176944"/>
                  <a:pt x="2241926" y="1136530"/>
                  <a:pt x="2277694" y="1113650"/>
                </a:cubicBezTo>
                <a:lnTo>
                  <a:pt x="2277694" y="137786"/>
                </a:lnTo>
                <a:cubicBezTo>
                  <a:pt x="2277694" y="61689"/>
                  <a:pt x="2339383" y="0"/>
                  <a:pt x="2415480" y="0"/>
                </a:cubicBezTo>
                <a:lnTo>
                  <a:pt x="2545196" y="0"/>
                </a:lnTo>
                <a:cubicBezTo>
                  <a:pt x="2621293" y="0"/>
                  <a:pt x="2682982" y="61689"/>
                  <a:pt x="2682982" y="137786"/>
                </a:cubicBezTo>
                <a:lnTo>
                  <a:pt x="2682982" y="1099067"/>
                </a:lnTo>
                <a:cubicBezTo>
                  <a:pt x="2730197" y="1120049"/>
                  <a:pt x="2762708" y="1167515"/>
                  <a:pt x="2762708" y="1222573"/>
                </a:cubicBezTo>
                <a:lnTo>
                  <a:pt x="2762708" y="1480834"/>
                </a:lnTo>
                <a:close/>
                <a:moveTo>
                  <a:pt x="241900" y="1676361"/>
                </a:moveTo>
                <a:cubicBezTo>
                  <a:pt x="69371" y="1631107"/>
                  <a:pt x="-34146" y="1454930"/>
                  <a:pt x="10296" y="1282189"/>
                </a:cubicBezTo>
                <a:cubicBezTo>
                  <a:pt x="54739" y="1109449"/>
                  <a:pt x="230428" y="1005105"/>
                  <a:pt x="403375" y="1048736"/>
                </a:cubicBezTo>
                <a:cubicBezTo>
                  <a:pt x="349550" y="1257945"/>
                  <a:pt x="295726" y="1467153"/>
                  <a:pt x="241900" y="1676361"/>
                </a:cubicBezTo>
                <a:close/>
                <a:moveTo>
                  <a:pt x="2578947" y="2467929"/>
                </a:moveTo>
                <a:lnTo>
                  <a:pt x="1957545" y="2301425"/>
                </a:lnTo>
                <a:lnTo>
                  <a:pt x="2194209" y="1418183"/>
                </a:lnTo>
                <a:lnTo>
                  <a:pt x="2815611" y="1584687"/>
                </a:lnTo>
                <a:cubicBezTo>
                  <a:pt x="2884250" y="1603079"/>
                  <a:pt x="2924985" y="1673632"/>
                  <a:pt x="2906593" y="1742272"/>
                </a:cubicBezTo>
                <a:lnTo>
                  <a:pt x="2736532" y="2376947"/>
                </a:lnTo>
                <a:cubicBezTo>
                  <a:pt x="2718140" y="2445587"/>
                  <a:pt x="2647586" y="2486321"/>
                  <a:pt x="2578947" y="2467929"/>
                </a:cubicBezTo>
                <a:close/>
                <a:moveTo>
                  <a:pt x="610249" y="2287120"/>
                </a:moveTo>
                <a:lnTo>
                  <a:pt x="1020264" y="756923"/>
                </a:lnTo>
                <a:lnTo>
                  <a:pt x="2107356" y="1398691"/>
                </a:lnTo>
                <a:lnTo>
                  <a:pt x="1872582" y="2274879"/>
                </a:lnTo>
                <a:close/>
                <a:moveTo>
                  <a:pt x="426016" y="2349577"/>
                </a:moveTo>
                <a:lnTo>
                  <a:pt x="243978" y="2300800"/>
                </a:lnTo>
                <a:cubicBezTo>
                  <a:pt x="205115" y="2290387"/>
                  <a:pt x="182051" y="2250439"/>
                  <a:pt x="192464" y="2211576"/>
                </a:cubicBezTo>
                <a:lnTo>
                  <a:pt x="620679" y="613455"/>
                </a:lnTo>
                <a:cubicBezTo>
                  <a:pt x="631093" y="574592"/>
                  <a:pt x="671040" y="551528"/>
                  <a:pt x="709903" y="561941"/>
                </a:cubicBezTo>
                <a:lnTo>
                  <a:pt x="891942" y="610718"/>
                </a:lnTo>
                <a:cubicBezTo>
                  <a:pt x="930805" y="621132"/>
                  <a:pt x="953869" y="661079"/>
                  <a:pt x="943455" y="699942"/>
                </a:cubicBezTo>
                <a:lnTo>
                  <a:pt x="515240" y="2298064"/>
                </a:lnTo>
                <a:cubicBezTo>
                  <a:pt x="504827" y="2336927"/>
                  <a:pt x="464879" y="2359990"/>
                  <a:pt x="426016" y="234957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latin typeface="+mj-lt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71804" y="1511559"/>
            <a:ext cx="108888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1200" dirty="0">
              <a:latin typeface="Times New Roman" pitchFamily="18" charset="0"/>
              <a:cs typeface="Times New Roman" pitchFamily="18" charset="0"/>
            </a:endParaRPr>
          </a:p>
          <a:p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61C27E7-60CC-A530-6A78-4315FA2B9D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8193940"/>
              </p:ext>
            </p:extLst>
          </p:nvPr>
        </p:nvGraphicFramePr>
        <p:xfrm>
          <a:off x="891500" y="522380"/>
          <a:ext cx="8737692" cy="2321378"/>
        </p:xfrm>
        <a:graphic>
          <a:graphicData uri="http://schemas.openxmlformats.org/drawingml/2006/table">
            <a:tbl>
              <a:tblPr/>
              <a:tblGrid>
                <a:gridCol w="2184423">
                  <a:extLst>
                    <a:ext uri="{9D8B030D-6E8A-4147-A177-3AD203B41FA5}">
                      <a16:colId xmlns:a16="http://schemas.microsoft.com/office/drawing/2014/main" val="2005459440"/>
                    </a:ext>
                  </a:extLst>
                </a:gridCol>
                <a:gridCol w="2184423">
                  <a:extLst>
                    <a:ext uri="{9D8B030D-6E8A-4147-A177-3AD203B41FA5}">
                      <a16:colId xmlns:a16="http://schemas.microsoft.com/office/drawing/2014/main" val="2038606492"/>
                    </a:ext>
                  </a:extLst>
                </a:gridCol>
                <a:gridCol w="2184423">
                  <a:extLst>
                    <a:ext uri="{9D8B030D-6E8A-4147-A177-3AD203B41FA5}">
                      <a16:colId xmlns:a16="http://schemas.microsoft.com/office/drawing/2014/main" val="204158319"/>
                    </a:ext>
                  </a:extLst>
                </a:gridCol>
                <a:gridCol w="2184423">
                  <a:extLst>
                    <a:ext uri="{9D8B030D-6E8A-4147-A177-3AD203B41FA5}">
                      <a16:colId xmlns:a16="http://schemas.microsoft.com/office/drawing/2014/main" val="1666074646"/>
                    </a:ext>
                  </a:extLst>
                </a:gridCol>
              </a:tblGrid>
              <a:tr h="15775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700" dirty="0"/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700"/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700"/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700" dirty="0"/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5560191"/>
                  </a:ext>
                </a:extLst>
              </a:tr>
              <a:tr h="98848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700" dirty="0"/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700" dirty="0"/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700"/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700" dirty="0"/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8628362"/>
                  </a:ext>
                </a:extLst>
              </a:tr>
              <a:tr h="98848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700"/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700" dirty="0"/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700"/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700" dirty="0"/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9774133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07E703F-06D7-E2A6-D519-2ADDA129E5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8688717"/>
              </p:ext>
            </p:extLst>
          </p:nvPr>
        </p:nvGraphicFramePr>
        <p:xfrm>
          <a:off x="10990540" y="5082911"/>
          <a:ext cx="416560" cy="1437939"/>
        </p:xfrm>
        <a:graphic>
          <a:graphicData uri="http://schemas.openxmlformats.org/drawingml/2006/table">
            <a:tbl>
              <a:tblPr/>
              <a:tblGrid>
                <a:gridCol w="208280">
                  <a:extLst>
                    <a:ext uri="{9D8B030D-6E8A-4147-A177-3AD203B41FA5}">
                      <a16:colId xmlns:a16="http://schemas.microsoft.com/office/drawing/2014/main" val="311300379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4266309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1787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7607718"/>
                  </a:ext>
                </a:extLst>
              </a:tr>
              <a:tr h="70641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0749273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20448E08-FB28-DE30-C6D9-DF054757AEF4}"/>
              </a:ext>
            </a:extLst>
          </p:cNvPr>
          <p:cNvSpPr txBox="1"/>
          <p:nvPr/>
        </p:nvSpPr>
        <p:spPr>
          <a:xfrm>
            <a:off x="4572255" y="3754331"/>
            <a:ext cx="43889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F2448DD-FF9D-E102-046A-135E36F45D9E}"/>
              </a:ext>
            </a:extLst>
          </p:cNvPr>
          <p:cNvSpPr txBox="1"/>
          <p:nvPr/>
        </p:nvSpPr>
        <p:spPr>
          <a:xfrm>
            <a:off x="769465" y="1385413"/>
            <a:ext cx="10315418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The dataset contains detailed flight information including airline name, source and destination cities, departure and arrival times, number of stops, travel class, duration, days left for booking, and ticket </a:t>
            </a: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price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Link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:-https://www.kaggle.com/datasets/kirtimathur/indian-airlines-data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b="1" dirty="0" smtClean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Airline</a:t>
            </a:r>
            <a:r>
              <a:rPr lang="en-US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– Name of the airline operating the flight (e.g., </a:t>
            </a:r>
            <a:r>
              <a:rPr lang="en-US" alt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IndiGo</a:t>
            </a:r>
            <a:r>
              <a:rPr lang="en-US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, Air India)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Flight</a:t>
            </a:r>
            <a:r>
              <a:rPr lang="en-US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– Unique flight number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Source City</a:t>
            </a:r>
            <a:r>
              <a:rPr lang="en-US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– City from where the flight departs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Departure Time</a:t>
            </a:r>
            <a:r>
              <a:rPr lang="en-US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– Time of departure (Morning, Afternoon, Evening, Night)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Stops</a:t>
            </a:r>
            <a:r>
              <a:rPr lang="en-US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– Number of stops (Non-stop, 1 stop, 2+ stops)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Arrival Time</a:t>
            </a:r>
            <a:r>
              <a:rPr lang="en-US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– Time when the flight reaches destination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Destination City</a:t>
            </a:r>
            <a:r>
              <a:rPr lang="en-US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– City where the flight lands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Class</a:t>
            </a:r>
            <a:r>
              <a:rPr lang="en-US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– Travel class (Economy / Business)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Duration</a:t>
            </a:r>
            <a:r>
              <a:rPr lang="en-US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– Total travel time of the flight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Days Left</a:t>
            </a:r>
            <a:r>
              <a:rPr lang="en-US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– Number of days left before departure (booking timing)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Price</a:t>
            </a:r>
            <a:r>
              <a:rPr lang="en-US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– Ticket price of the flight </a:t>
            </a:r>
          </a:p>
          <a:p>
            <a:endParaRPr lang="en-US" b="1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26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Knowledge keywords</a:t>
            </a:r>
            <a:endParaRPr lang="en-IN" dirty="0">
              <a:solidFill>
                <a:schemeClr val="tx2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670561" y="1468577"/>
            <a:ext cx="10229403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Insight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→ Meaningful conclusion from data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 It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is not just numbers — it explains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what is happening and why it matters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Example:-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KPIs, cards, summary visuals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Trend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→ Direction of data over time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 Is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it increasing? decreasing? stable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Exa</a:t>
            </a:r>
            <a:r>
              <a:rPr lang="en-US" alt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mple:-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Axis = Time (Days, Month, Year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),Line charts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Pattern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→ Repeated behavior in data or 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relationship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in 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data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 Does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something happen again and again? These are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patterns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because they repeat consistently</a:t>
            </a:r>
            <a:endParaRPr lang="en-US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Example:-</a:t>
            </a:r>
            <a:r>
              <a:rPr lang="en-US" alt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represented in 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bar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charts, scatter plots, heatmaps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Stakeholder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→ Person who uses the analysis or dashboard</a:t>
            </a:r>
            <a:r>
              <a:rPr kumimoji="0" lang="en-US" alt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for decisions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 They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are the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decision </a:t>
            </a:r>
            <a:r>
              <a:rPr lang="en-US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makers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Example:-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Airline Managers → decide pricing strategy, Business Analysts → analyze 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performance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8118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6667" y="407804"/>
            <a:ext cx="8382000" cy="670055"/>
          </a:xfrm>
        </p:spPr>
        <p:txBody>
          <a:bodyPr/>
          <a:lstStyle/>
          <a:p>
            <a:r>
              <a:rPr lang="en-IN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Approach</a:t>
            </a:r>
          </a:p>
        </p:txBody>
      </p:sp>
      <p:sp>
        <p:nvSpPr>
          <p:cNvPr id="62" name="Oval 21">
            <a:extLst>
              <a:ext uri="{FF2B5EF4-FFF2-40B4-BE49-F238E27FC236}">
                <a16:creationId xmlns:a16="http://schemas.microsoft.com/office/drawing/2014/main" id="{B6772792-A9E6-4D3D-B8EC-193DFF7C9094}"/>
              </a:ext>
            </a:extLst>
          </p:cNvPr>
          <p:cNvSpPr/>
          <p:nvPr/>
        </p:nvSpPr>
        <p:spPr>
          <a:xfrm rot="20700000">
            <a:off x="5995072" y="1879559"/>
            <a:ext cx="438803" cy="384581"/>
          </a:xfrm>
          <a:custGeom>
            <a:avLst/>
            <a:gdLst/>
            <a:ahLst/>
            <a:cxnLst/>
            <a:rect l="l" t="t" r="r" b="b"/>
            <a:pathLst>
              <a:path w="4088377" h="3321003">
                <a:moveTo>
                  <a:pt x="1365628" y="1622218"/>
                </a:moveTo>
                <a:cubicBezTo>
                  <a:pt x="1121373" y="1556771"/>
                  <a:pt x="870309" y="1701722"/>
                  <a:pt x="804861" y="1945977"/>
                </a:cubicBezTo>
                <a:cubicBezTo>
                  <a:pt x="739413" y="2190232"/>
                  <a:pt x="884365" y="2441296"/>
                  <a:pt x="1128620" y="2506744"/>
                </a:cubicBezTo>
                <a:cubicBezTo>
                  <a:pt x="1372875" y="2572191"/>
                  <a:pt x="1623939" y="2427240"/>
                  <a:pt x="1689387" y="2182985"/>
                </a:cubicBezTo>
                <a:cubicBezTo>
                  <a:pt x="1754835" y="1938730"/>
                  <a:pt x="1609883" y="1687666"/>
                  <a:pt x="1365628" y="1622218"/>
                </a:cubicBezTo>
                <a:close/>
                <a:moveTo>
                  <a:pt x="1447099" y="1318163"/>
                </a:moveTo>
                <a:cubicBezTo>
                  <a:pt x="1859279" y="1428606"/>
                  <a:pt x="2103885" y="1852277"/>
                  <a:pt x="1993442" y="2264456"/>
                </a:cubicBezTo>
                <a:cubicBezTo>
                  <a:pt x="1882999" y="2676636"/>
                  <a:pt x="1459328" y="2921242"/>
                  <a:pt x="1047149" y="2810799"/>
                </a:cubicBezTo>
                <a:cubicBezTo>
                  <a:pt x="634969" y="2700356"/>
                  <a:pt x="390363" y="2276685"/>
                  <a:pt x="500806" y="1864505"/>
                </a:cubicBezTo>
                <a:cubicBezTo>
                  <a:pt x="611249" y="1452326"/>
                  <a:pt x="1034920" y="1207720"/>
                  <a:pt x="1447099" y="1318163"/>
                </a:cubicBezTo>
                <a:close/>
                <a:moveTo>
                  <a:pt x="1476725" y="1207597"/>
                </a:moveTo>
                <a:cubicBezTo>
                  <a:pt x="1003481" y="1080792"/>
                  <a:pt x="517045" y="1361635"/>
                  <a:pt x="390240" y="1834879"/>
                </a:cubicBezTo>
                <a:cubicBezTo>
                  <a:pt x="263435" y="2308124"/>
                  <a:pt x="544279" y="2794559"/>
                  <a:pt x="1017523" y="2921365"/>
                </a:cubicBezTo>
                <a:cubicBezTo>
                  <a:pt x="1490767" y="3048170"/>
                  <a:pt x="1977202" y="2767326"/>
                  <a:pt x="2104008" y="2294082"/>
                </a:cubicBezTo>
                <a:cubicBezTo>
                  <a:pt x="2230813" y="1820838"/>
                  <a:pt x="1949969" y="1334403"/>
                  <a:pt x="1476725" y="1207597"/>
                </a:cubicBezTo>
                <a:close/>
                <a:moveTo>
                  <a:pt x="3290290" y="1590224"/>
                </a:moveTo>
                <a:cubicBezTo>
                  <a:pt x="3269727" y="1586016"/>
                  <a:pt x="3248437" y="1583806"/>
                  <a:pt x="3226630" y="1583806"/>
                </a:cubicBezTo>
                <a:cubicBezTo>
                  <a:pt x="3052179" y="1583806"/>
                  <a:pt x="2910758" y="1725227"/>
                  <a:pt x="2910758" y="1899678"/>
                </a:cubicBezTo>
                <a:cubicBezTo>
                  <a:pt x="2910758" y="2074130"/>
                  <a:pt x="3052179" y="2215551"/>
                  <a:pt x="3226630" y="2215550"/>
                </a:cubicBezTo>
                <a:cubicBezTo>
                  <a:pt x="3401082" y="2215551"/>
                  <a:pt x="3542503" y="2074130"/>
                  <a:pt x="3542502" y="1899678"/>
                </a:cubicBezTo>
                <a:cubicBezTo>
                  <a:pt x="3542503" y="1747033"/>
                  <a:pt x="3434228" y="1619677"/>
                  <a:pt x="3290290" y="1590224"/>
                </a:cubicBezTo>
                <a:close/>
                <a:moveTo>
                  <a:pt x="3334055" y="1377473"/>
                </a:moveTo>
                <a:cubicBezTo>
                  <a:pt x="3576950" y="1427177"/>
                  <a:pt x="3759665" y="1642090"/>
                  <a:pt x="3759665" y="1899678"/>
                </a:cubicBezTo>
                <a:cubicBezTo>
                  <a:pt x="3759665" y="2194064"/>
                  <a:pt x="3521017" y="2432713"/>
                  <a:pt x="3226630" y="2432713"/>
                </a:cubicBezTo>
                <a:cubicBezTo>
                  <a:pt x="2932244" y="2432712"/>
                  <a:pt x="2693596" y="2194065"/>
                  <a:pt x="2693596" y="1899678"/>
                </a:cubicBezTo>
                <a:cubicBezTo>
                  <a:pt x="2693596" y="1605292"/>
                  <a:pt x="2932244" y="1366644"/>
                  <a:pt x="3226630" y="1366644"/>
                </a:cubicBezTo>
                <a:cubicBezTo>
                  <a:pt x="3263429" y="1366644"/>
                  <a:pt x="3299356" y="1370373"/>
                  <a:pt x="3334055" y="1377473"/>
                </a:cubicBezTo>
                <a:close/>
                <a:moveTo>
                  <a:pt x="1391137" y="789478"/>
                </a:moveTo>
                <a:lnTo>
                  <a:pt x="1759910" y="888290"/>
                </a:lnTo>
                <a:lnTo>
                  <a:pt x="1754625" y="1202375"/>
                </a:lnTo>
                <a:lnTo>
                  <a:pt x="1744979" y="1199790"/>
                </a:lnTo>
                <a:cubicBezTo>
                  <a:pt x="1823578" y="1244024"/>
                  <a:pt x="1894617" y="1298265"/>
                  <a:pt x="1954704" y="1362586"/>
                </a:cubicBezTo>
                <a:lnTo>
                  <a:pt x="2234317" y="1293059"/>
                </a:lnTo>
                <a:lnTo>
                  <a:pt x="2413554" y="1630152"/>
                </a:lnTo>
                <a:lnTo>
                  <a:pt x="2214321" y="1809770"/>
                </a:lnTo>
                <a:cubicBezTo>
                  <a:pt x="2239296" y="1900740"/>
                  <a:pt x="2251067" y="1995997"/>
                  <a:pt x="2246841" y="2092825"/>
                </a:cubicBezTo>
                <a:lnTo>
                  <a:pt x="2495698" y="2230974"/>
                </a:lnTo>
                <a:lnTo>
                  <a:pt x="2396885" y="2599747"/>
                </a:lnTo>
                <a:lnTo>
                  <a:pt x="2094912" y="2594668"/>
                </a:lnTo>
                <a:cubicBezTo>
                  <a:pt x="2056732" y="2658461"/>
                  <a:pt x="2010475" y="2715996"/>
                  <a:pt x="1958644" y="2767359"/>
                </a:cubicBezTo>
                <a:lnTo>
                  <a:pt x="2057814" y="3026193"/>
                </a:lnTo>
                <a:lnTo>
                  <a:pt x="1745078" y="3245174"/>
                </a:lnTo>
                <a:lnTo>
                  <a:pt x="1507869" y="3039237"/>
                </a:lnTo>
                <a:lnTo>
                  <a:pt x="1536736" y="3019025"/>
                </a:lnTo>
                <a:cubicBezTo>
                  <a:pt x="1445878" y="3048429"/>
                  <a:pt x="1349798" y="3062567"/>
                  <a:pt x="1251837" y="3062021"/>
                </a:cubicBezTo>
                <a:lnTo>
                  <a:pt x="1108065" y="3321003"/>
                </a:lnTo>
                <a:lnTo>
                  <a:pt x="739291" y="3222191"/>
                </a:lnTo>
                <a:lnTo>
                  <a:pt x="744274" y="2926021"/>
                </a:lnTo>
                <a:cubicBezTo>
                  <a:pt x="666128" y="2881484"/>
                  <a:pt x="595548" y="2827017"/>
                  <a:pt x="535891" y="2762576"/>
                </a:cubicBezTo>
                <a:lnTo>
                  <a:pt x="540671" y="2772825"/>
                </a:lnTo>
                <a:lnTo>
                  <a:pt x="232276" y="2832568"/>
                </a:lnTo>
                <a:lnTo>
                  <a:pt x="70927" y="2486556"/>
                </a:lnTo>
                <a:lnTo>
                  <a:pt x="279495" y="2317444"/>
                </a:lnTo>
                <a:cubicBezTo>
                  <a:pt x="257233" y="2235849"/>
                  <a:pt x="245603" y="2150814"/>
                  <a:pt x="245586" y="2064274"/>
                </a:cubicBezTo>
                <a:lnTo>
                  <a:pt x="0" y="1927940"/>
                </a:lnTo>
                <a:lnTo>
                  <a:pt x="98812" y="1559167"/>
                </a:lnTo>
                <a:lnTo>
                  <a:pt x="380240" y="1563901"/>
                </a:lnTo>
                <a:cubicBezTo>
                  <a:pt x="418421" y="1496524"/>
                  <a:pt x="464524" y="1435092"/>
                  <a:pt x="516679" y="1380105"/>
                </a:cubicBezTo>
                <a:lnTo>
                  <a:pt x="422419" y="1089378"/>
                </a:lnTo>
                <a:lnTo>
                  <a:pt x="746189" y="887063"/>
                </a:lnTo>
                <a:lnTo>
                  <a:pt x="972292" y="1105134"/>
                </a:lnTo>
                <a:lnTo>
                  <a:pt x="970019" y="1106554"/>
                </a:lnTo>
                <a:cubicBezTo>
                  <a:pt x="1058903" y="1078586"/>
                  <a:pt x="1152743" y="1065659"/>
                  <a:pt x="1248316" y="1066709"/>
                </a:cubicBezTo>
                <a:lnTo>
                  <a:pt x="1238669" y="1064125"/>
                </a:lnTo>
                <a:close/>
                <a:moveTo>
                  <a:pt x="3349970" y="1300109"/>
                </a:moveTo>
                <a:cubicBezTo>
                  <a:pt x="3310130" y="1291957"/>
                  <a:pt x="3268880" y="1287676"/>
                  <a:pt x="3226630" y="1287676"/>
                </a:cubicBezTo>
                <a:cubicBezTo>
                  <a:pt x="2888631" y="1287676"/>
                  <a:pt x="2614628" y="1561679"/>
                  <a:pt x="2614628" y="1899678"/>
                </a:cubicBezTo>
                <a:cubicBezTo>
                  <a:pt x="2614628" y="2237678"/>
                  <a:pt x="2888630" y="2511680"/>
                  <a:pt x="3226630" y="2511681"/>
                </a:cubicBezTo>
                <a:cubicBezTo>
                  <a:pt x="3564630" y="2511681"/>
                  <a:pt x="3838633" y="2237678"/>
                  <a:pt x="3838633" y="1899678"/>
                </a:cubicBezTo>
                <a:cubicBezTo>
                  <a:pt x="3838632" y="1603928"/>
                  <a:pt x="3628849" y="1357176"/>
                  <a:pt x="3349970" y="1300109"/>
                </a:cubicBezTo>
                <a:close/>
                <a:moveTo>
                  <a:pt x="3358324" y="1024334"/>
                </a:moveTo>
                <a:lnTo>
                  <a:pt x="3410883" y="1234575"/>
                </a:lnTo>
                <a:lnTo>
                  <a:pt x="3403994" y="1234575"/>
                </a:lnTo>
                <a:cubicBezTo>
                  <a:pt x="3464268" y="1250018"/>
                  <a:pt x="3521292" y="1273478"/>
                  <a:pt x="3572818" y="1305612"/>
                </a:cubicBezTo>
                <a:lnTo>
                  <a:pt x="3746730" y="1209354"/>
                </a:lnTo>
                <a:lnTo>
                  <a:pt x="3926358" y="1401981"/>
                </a:lnTo>
                <a:lnTo>
                  <a:pt x="3825667" y="1557247"/>
                </a:lnTo>
                <a:cubicBezTo>
                  <a:pt x="3858552" y="1613408"/>
                  <a:pt x="3883404" y="1674784"/>
                  <a:pt x="3897877" y="1740062"/>
                </a:cubicBezTo>
                <a:lnTo>
                  <a:pt x="4088377" y="1787686"/>
                </a:lnTo>
                <a:lnTo>
                  <a:pt x="4088377" y="2051071"/>
                </a:lnTo>
                <a:lnTo>
                  <a:pt x="3886243" y="2101605"/>
                </a:lnTo>
                <a:cubicBezTo>
                  <a:pt x="3872191" y="2150933"/>
                  <a:pt x="3851639" y="2197531"/>
                  <a:pt x="3826272" y="2241013"/>
                </a:cubicBezTo>
                <a:lnTo>
                  <a:pt x="3938572" y="2395786"/>
                </a:lnTo>
                <a:lnTo>
                  <a:pt x="3769272" y="2597551"/>
                </a:lnTo>
                <a:lnTo>
                  <a:pt x="3574432" y="2502674"/>
                </a:lnTo>
                <a:lnTo>
                  <a:pt x="3590059" y="2484050"/>
                </a:lnTo>
                <a:cubicBezTo>
                  <a:pt x="3534764" y="2519868"/>
                  <a:pt x="3473263" y="2546445"/>
                  <a:pt x="3407886" y="2563572"/>
                </a:cubicBezTo>
                <a:lnTo>
                  <a:pt x="3358323" y="2761823"/>
                </a:lnTo>
                <a:lnTo>
                  <a:pt x="3094938" y="2761823"/>
                </a:lnTo>
                <a:lnTo>
                  <a:pt x="3045375" y="2563574"/>
                </a:lnTo>
                <a:cubicBezTo>
                  <a:pt x="2985349" y="2547848"/>
                  <a:pt x="2928591" y="2524155"/>
                  <a:pt x="2877330" y="2491865"/>
                </a:cubicBezTo>
                <a:lnTo>
                  <a:pt x="2882346" y="2497841"/>
                </a:lnTo>
                <a:lnTo>
                  <a:pt x="2687507" y="2592718"/>
                </a:lnTo>
                <a:lnTo>
                  <a:pt x="2518206" y="2390954"/>
                </a:lnTo>
                <a:lnTo>
                  <a:pt x="2626994" y="2241021"/>
                </a:lnTo>
                <a:cubicBezTo>
                  <a:pt x="2597591" y="2190623"/>
                  <a:pt x="2574657" y="2136035"/>
                  <a:pt x="2559194" y="2078370"/>
                </a:cubicBezTo>
                <a:lnTo>
                  <a:pt x="2371198" y="2031371"/>
                </a:lnTo>
                <a:lnTo>
                  <a:pt x="2371198" y="1767986"/>
                </a:lnTo>
                <a:lnTo>
                  <a:pt x="2559579" y="1720890"/>
                </a:lnTo>
                <a:cubicBezTo>
                  <a:pt x="2572992" y="1669175"/>
                  <a:pt x="2592745" y="1620006"/>
                  <a:pt x="2617681" y="1574051"/>
                </a:cubicBezTo>
                <a:lnTo>
                  <a:pt x="2502958" y="1397149"/>
                </a:lnTo>
                <a:lnTo>
                  <a:pt x="2682587" y="1204520"/>
                </a:lnTo>
                <a:lnTo>
                  <a:pt x="2872193" y="1309466"/>
                </a:lnTo>
                <a:lnTo>
                  <a:pt x="2870932" y="1310818"/>
                </a:lnTo>
                <a:cubicBezTo>
                  <a:pt x="2925169" y="1276310"/>
                  <a:pt x="2985393" y="1250941"/>
                  <a:pt x="3049268" y="1234575"/>
                </a:cubicBezTo>
                <a:lnTo>
                  <a:pt x="3042378" y="1234576"/>
                </a:lnTo>
                <a:lnTo>
                  <a:pt x="3094939" y="1024334"/>
                </a:lnTo>
                <a:close/>
                <a:moveTo>
                  <a:pt x="2786480" y="402820"/>
                </a:moveTo>
                <a:cubicBezTo>
                  <a:pt x="2745900" y="389943"/>
                  <a:pt x="2701172" y="388627"/>
                  <a:pt x="2657264" y="401580"/>
                </a:cubicBezTo>
                <a:cubicBezTo>
                  <a:pt x="2540176" y="436121"/>
                  <a:pt x="2473258" y="559041"/>
                  <a:pt x="2507800" y="676128"/>
                </a:cubicBezTo>
                <a:cubicBezTo>
                  <a:pt x="2542340" y="793216"/>
                  <a:pt x="2665260" y="860133"/>
                  <a:pt x="2782348" y="825592"/>
                </a:cubicBezTo>
                <a:cubicBezTo>
                  <a:pt x="2899435" y="791051"/>
                  <a:pt x="2966353" y="668132"/>
                  <a:pt x="2931812" y="551045"/>
                </a:cubicBezTo>
                <a:cubicBezTo>
                  <a:pt x="2910223" y="477864"/>
                  <a:pt x="2854113" y="424282"/>
                  <a:pt x="2786480" y="402820"/>
                </a:cubicBezTo>
                <a:close/>
                <a:moveTo>
                  <a:pt x="2932202" y="47278"/>
                </a:moveTo>
                <a:lnTo>
                  <a:pt x="3090904" y="140999"/>
                </a:lnTo>
                <a:lnTo>
                  <a:pt x="3054065" y="265147"/>
                </a:lnTo>
                <a:cubicBezTo>
                  <a:pt x="3087256" y="296329"/>
                  <a:pt x="3116089" y="332603"/>
                  <a:pt x="3138727" y="373550"/>
                </a:cubicBezTo>
                <a:lnTo>
                  <a:pt x="3276016" y="367796"/>
                </a:lnTo>
                <a:lnTo>
                  <a:pt x="3328165" y="544574"/>
                </a:lnTo>
                <a:lnTo>
                  <a:pt x="3202503" y="618514"/>
                </a:lnTo>
                <a:cubicBezTo>
                  <a:pt x="3202838" y="654403"/>
                  <a:pt x="3198271" y="689748"/>
                  <a:pt x="3189855" y="723955"/>
                </a:cubicBezTo>
                <a:lnTo>
                  <a:pt x="3295873" y="805599"/>
                </a:lnTo>
                <a:lnTo>
                  <a:pt x="3222192" y="974540"/>
                </a:lnTo>
                <a:lnTo>
                  <a:pt x="3072634" y="949439"/>
                </a:lnTo>
                <a:lnTo>
                  <a:pt x="3079435" y="933845"/>
                </a:lnTo>
                <a:cubicBezTo>
                  <a:pt x="3049413" y="968833"/>
                  <a:pt x="3013398" y="998848"/>
                  <a:pt x="2972910" y="1023288"/>
                </a:cubicBezTo>
                <a:lnTo>
                  <a:pt x="2978897" y="1166163"/>
                </a:lnTo>
                <a:lnTo>
                  <a:pt x="2802119" y="1218312"/>
                </a:lnTo>
                <a:lnTo>
                  <a:pt x="2729602" y="1095065"/>
                </a:lnTo>
                <a:cubicBezTo>
                  <a:pt x="2686199" y="1096396"/>
                  <a:pt x="2643414" y="1091732"/>
                  <a:pt x="2602615" y="1080209"/>
                </a:cubicBezTo>
                <a:lnTo>
                  <a:pt x="2607165" y="1083226"/>
                </a:lnTo>
                <a:lnTo>
                  <a:pt x="2495179" y="1185484"/>
                </a:lnTo>
                <a:lnTo>
                  <a:pt x="2341599" y="1083585"/>
                </a:lnTo>
                <a:lnTo>
                  <a:pt x="2384929" y="961414"/>
                </a:lnTo>
                <a:cubicBezTo>
                  <a:pt x="2355215" y="933409"/>
                  <a:pt x="2329015" y="901312"/>
                  <a:pt x="2307218" y="865670"/>
                </a:cubicBezTo>
                <a:lnTo>
                  <a:pt x="2171734" y="871348"/>
                </a:lnTo>
                <a:lnTo>
                  <a:pt x="2119584" y="694571"/>
                </a:lnTo>
                <a:lnTo>
                  <a:pt x="2236697" y="625662"/>
                </a:lnTo>
                <a:cubicBezTo>
                  <a:pt x="2235459" y="588297"/>
                  <a:pt x="2238982" y="551385"/>
                  <a:pt x="2246620" y="515603"/>
                </a:cubicBezTo>
                <a:lnTo>
                  <a:pt x="2134594" y="419585"/>
                </a:lnTo>
                <a:lnTo>
                  <a:pt x="2217016" y="254732"/>
                </a:lnTo>
                <a:lnTo>
                  <a:pt x="2365055" y="287627"/>
                </a:lnTo>
                <a:lnTo>
                  <a:pt x="2364476" y="288784"/>
                </a:lnTo>
                <a:cubicBezTo>
                  <a:pt x="2394046" y="254885"/>
                  <a:pt x="2429444" y="225933"/>
                  <a:pt x="2469075" y="202302"/>
                </a:cubicBezTo>
                <a:lnTo>
                  <a:pt x="2464452" y="203666"/>
                </a:lnTo>
                <a:lnTo>
                  <a:pt x="2458102" y="52150"/>
                </a:lnTo>
                <a:lnTo>
                  <a:pt x="2634880" y="0"/>
                </a:lnTo>
                <a:lnTo>
                  <a:pt x="2711784" y="130703"/>
                </a:lnTo>
                <a:lnTo>
                  <a:pt x="2707159" y="132067"/>
                </a:lnTo>
                <a:cubicBezTo>
                  <a:pt x="2750672" y="130497"/>
                  <a:pt x="2793590" y="134953"/>
                  <a:pt x="2834535" y="14631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/>
          </a:p>
        </p:txBody>
      </p:sp>
      <p:sp>
        <p:nvSpPr>
          <p:cNvPr id="63" name="Trapezoid 3">
            <a:extLst>
              <a:ext uri="{FF2B5EF4-FFF2-40B4-BE49-F238E27FC236}">
                <a16:creationId xmlns:a16="http://schemas.microsoft.com/office/drawing/2014/main" id="{95BB1BDF-2630-4F1E-BAE9-33483F8822B1}"/>
              </a:ext>
            </a:extLst>
          </p:cNvPr>
          <p:cNvSpPr/>
          <p:nvPr/>
        </p:nvSpPr>
        <p:spPr>
          <a:xfrm>
            <a:off x="6621214" y="3400653"/>
            <a:ext cx="390522" cy="398013"/>
          </a:xfrm>
          <a:custGeom>
            <a:avLst/>
            <a:gdLst/>
            <a:ahLst/>
            <a:cxnLst/>
            <a:rect l="l" t="t" r="r" b="b"/>
            <a:pathLst>
              <a:path w="3890855" h="3965475">
                <a:moveTo>
                  <a:pt x="513635" y="2426125"/>
                </a:moveTo>
                <a:lnTo>
                  <a:pt x="1518439" y="2426125"/>
                </a:lnTo>
                <a:cubicBezTo>
                  <a:pt x="1550976" y="2510415"/>
                  <a:pt x="1581900" y="2596962"/>
                  <a:pt x="1610725" y="2683637"/>
                </a:cubicBezTo>
                <a:lnTo>
                  <a:pt x="901668" y="2683637"/>
                </a:lnTo>
                <a:lnTo>
                  <a:pt x="559881" y="3707964"/>
                </a:lnTo>
                <a:lnTo>
                  <a:pt x="1917114" y="3707964"/>
                </a:lnTo>
                <a:cubicBezTo>
                  <a:pt x="1925031" y="3729959"/>
                  <a:pt x="1931702" y="3744180"/>
                  <a:pt x="1936944" y="3749452"/>
                </a:cubicBezTo>
                <a:cubicBezTo>
                  <a:pt x="1940579" y="3743065"/>
                  <a:pt x="1945876" y="3728913"/>
                  <a:pt x="1952632" y="3707964"/>
                </a:cubicBezTo>
                <a:lnTo>
                  <a:pt x="3330974" y="3707964"/>
                </a:lnTo>
                <a:lnTo>
                  <a:pt x="2989187" y="2683637"/>
                </a:lnTo>
                <a:lnTo>
                  <a:pt x="2271337" y="2683637"/>
                </a:lnTo>
                <a:cubicBezTo>
                  <a:pt x="2301469" y="2597098"/>
                  <a:pt x="2333531" y="2510572"/>
                  <a:pt x="2366939" y="2426125"/>
                </a:cubicBezTo>
                <a:lnTo>
                  <a:pt x="3377220" y="2426125"/>
                </a:lnTo>
                <a:lnTo>
                  <a:pt x="3890855" y="3965475"/>
                </a:lnTo>
                <a:lnTo>
                  <a:pt x="0" y="3965475"/>
                </a:lnTo>
                <a:close/>
                <a:moveTo>
                  <a:pt x="1936944" y="620869"/>
                </a:moveTo>
                <a:cubicBezTo>
                  <a:pt x="1782578" y="620869"/>
                  <a:pt x="1657440" y="746006"/>
                  <a:pt x="1657440" y="900372"/>
                </a:cubicBezTo>
                <a:cubicBezTo>
                  <a:pt x="1657440" y="1054738"/>
                  <a:pt x="1782578" y="1179876"/>
                  <a:pt x="1936944" y="1179876"/>
                </a:cubicBezTo>
                <a:cubicBezTo>
                  <a:pt x="2091310" y="1179876"/>
                  <a:pt x="2216447" y="1054738"/>
                  <a:pt x="2216447" y="900372"/>
                </a:cubicBezTo>
                <a:cubicBezTo>
                  <a:pt x="2216447" y="746006"/>
                  <a:pt x="2091310" y="620869"/>
                  <a:pt x="1936944" y="620869"/>
                </a:cubicBezTo>
                <a:close/>
                <a:moveTo>
                  <a:pt x="1936944" y="0"/>
                </a:moveTo>
                <a:cubicBezTo>
                  <a:pt x="2169175" y="0"/>
                  <a:pt x="2401406" y="88593"/>
                  <a:pt x="2578592" y="265779"/>
                </a:cubicBezTo>
                <a:lnTo>
                  <a:pt x="2578592" y="265780"/>
                </a:lnTo>
                <a:cubicBezTo>
                  <a:pt x="2932964" y="620153"/>
                  <a:pt x="2888999" y="1155622"/>
                  <a:pt x="2578592" y="1549077"/>
                </a:cubicBezTo>
                <a:cubicBezTo>
                  <a:pt x="2248849" y="1967039"/>
                  <a:pt x="1976153" y="3125749"/>
                  <a:pt x="1936944" y="3194660"/>
                </a:cubicBezTo>
                <a:cubicBezTo>
                  <a:pt x="1883033" y="3140450"/>
                  <a:pt x="1647095" y="1944983"/>
                  <a:pt x="1295295" y="1549076"/>
                </a:cubicBezTo>
                <a:cubicBezTo>
                  <a:pt x="962406" y="1174450"/>
                  <a:pt x="940923" y="620152"/>
                  <a:pt x="1295295" y="265779"/>
                </a:cubicBezTo>
                <a:cubicBezTo>
                  <a:pt x="1472481" y="88593"/>
                  <a:pt x="1704713" y="0"/>
                  <a:pt x="193694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>
              <a:solidFill>
                <a:schemeClr val="tx1"/>
              </a:solidFill>
            </a:endParaRPr>
          </a:p>
        </p:txBody>
      </p:sp>
      <p:sp>
        <p:nvSpPr>
          <p:cNvPr id="64" name="Rectangle 15">
            <a:extLst>
              <a:ext uri="{FF2B5EF4-FFF2-40B4-BE49-F238E27FC236}">
                <a16:creationId xmlns:a16="http://schemas.microsoft.com/office/drawing/2014/main" id="{A23CF45A-159F-484F-875D-0F23A4978354}"/>
              </a:ext>
            </a:extLst>
          </p:cNvPr>
          <p:cNvSpPr/>
          <p:nvPr/>
        </p:nvSpPr>
        <p:spPr>
          <a:xfrm rot="14270044">
            <a:off x="5618410" y="4062740"/>
            <a:ext cx="390293" cy="406562"/>
          </a:xfrm>
          <a:custGeom>
            <a:avLst/>
            <a:gdLst/>
            <a:ahLst/>
            <a:cxnLst/>
            <a:rect l="l" t="t" r="r" b="b"/>
            <a:pathLst>
              <a:path w="4088964" h="4259405">
                <a:moveTo>
                  <a:pt x="1480605" y="2231940"/>
                </a:moveTo>
                <a:lnTo>
                  <a:pt x="1199818" y="2044620"/>
                </a:lnTo>
                <a:lnTo>
                  <a:pt x="761621" y="2687221"/>
                </a:lnTo>
                <a:cubicBezTo>
                  <a:pt x="501536" y="2652619"/>
                  <a:pt x="265323" y="2467912"/>
                  <a:pt x="39127" y="2272940"/>
                </a:cubicBezTo>
                <a:cubicBezTo>
                  <a:pt x="-80639" y="2070133"/>
                  <a:pt x="269496" y="1743507"/>
                  <a:pt x="374515" y="1494038"/>
                </a:cubicBezTo>
                <a:lnTo>
                  <a:pt x="93728" y="1306717"/>
                </a:lnTo>
                <a:lnTo>
                  <a:pt x="1091841" y="1312633"/>
                </a:lnTo>
                <a:close/>
                <a:moveTo>
                  <a:pt x="2759566" y="226796"/>
                </a:moveTo>
                <a:cubicBezTo>
                  <a:pt x="2331051" y="377379"/>
                  <a:pt x="2150002" y="492309"/>
                  <a:pt x="1991062" y="643648"/>
                </a:cubicBezTo>
                <a:lnTo>
                  <a:pt x="1463599" y="1446568"/>
                </a:lnTo>
                <a:lnTo>
                  <a:pt x="610317" y="909936"/>
                </a:lnTo>
                <a:cubicBezTo>
                  <a:pt x="810411" y="627556"/>
                  <a:pt x="1020899" y="239191"/>
                  <a:pt x="1244930" y="61882"/>
                </a:cubicBezTo>
                <a:cubicBezTo>
                  <a:pt x="1491876" y="-75367"/>
                  <a:pt x="1697752" y="31605"/>
                  <a:pt x="2759566" y="226796"/>
                </a:cubicBezTo>
                <a:close/>
                <a:moveTo>
                  <a:pt x="1722488" y="3820535"/>
                </a:moveTo>
                <a:cubicBezTo>
                  <a:pt x="1376925" y="3801485"/>
                  <a:pt x="936112" y="3830060"/>
                  <a:pt x="666750" y="3734810"/>
                </a:cubicBezTo>
                <a:cubicBezTo>
                  <a:pt x="419100" y="3598835"/>
                  <a:pt x="400050" y="3367610"/>
                  <a:pt x="0" y="2364860"/>
                </a:cubicBezTo>
                <a:cubicBezTo>
                  <a:pt x="355600" y="2647435"/>
                  <a:pt x="549276" y="2739510"/>
                  <a:pt x="762000" y="2793485"/>
                </a:cubicBezTo>
                <a:lnTo>
                  <a:pt x="1722487" y="2812535"/>
                </a:lnTo>
                <a:close/>
                <a:moveTo>
                  <a:pt x="3605396" y="869465"/>
                </a:moveTo>
                <a:lnTo>
                  <a:pt x="3069019" y="1711228"/>
                </a:lnTo>
                <a:lnTo>
                  <a:pt x="2083849" y="1550906"/>
                </a:lnTo>
                <a:lnTo>
                  <a:pt x="2391902" y="1412941"/>
                </a:lnTo>
                <a:lnTo>
                  <a:pt x="2081217" y="699900"/>
                </a:lnTo>
                <a:cubicBezTo>
                  <a:pt x="2248971" y="498156"/>
                  <a:pt x="2531081" y="396532"/>
                  <a:pt x="2816547" y="308854"/>
                </a:cubicBezTo>
                <a:cubicBezTo>
                  <a:pt x="3051986" y="315439"/>
                  <a:pt x="3142075" y="785719"/>
                  <a:pt x="3297344" y="1007430"/>
                </a:cubicBezTo>
                <a:close/>
                <a:moveTo>
                  <a:pt x="3222215" y="3788662"/>
                </a:moveTo>
                <a:cubicBezTo>
                  <a:pt x="3089072" y="3954283"/>
                  <a:pt x="2662122" y="3869088"/>
                  <a:pt x="2413930" y="3921936"/>
                </a:cubicBezTo>
                <a:lnTo>
                  <a:pt x="2420658" y="4259405"/>
                </a:lnTo>
                <a:lnTo>
                  <a:pt x="1855155" y="3436926"/>
                </a:lnTo>
                <a:lnTo>
                  <a:pt x="2387428" y="2592563"/>
                </a:lnTo>
                <a:lnTo>
                  <a:pt x="2394156" y="2930032"/>
                </a:lnTo>
                <a:lnTo>
                  <a:pt x="3171906" y="2922431"/>
                </a:lnTo>
                <a:cubicBezTo>
                  <a:pt x="3292132" y="3155642"/>
                  <a:pt x="3275533" y="3455038"/>
                  <a:pt x="3244786" y="3752078"/>
                </a:cubicBezTo>
                <a:cubicBezTo>
                  <a:pt x="3238662" y="3765464"/>
                  <a:pt x="3231091" y="3777620"/>
                  <a:pt x="3222215" y="3788662"/>
                </a:cubicBezTo>
                <a:close/>
                <a:moveTo>
                  <a:pt x="3948285" y="2834020"/>
                </a:moveTo>
                <a:cubicBezTo>
                  <a:pt x="3833022" y="3018741"/>
                  <a:pt x="3639730" y="3281008"/>
                  <a:pt x="3342579" y="3731662"/>
                </a:cubicBezTo>
                <a:cubicBezTo>
                  <a:pt x="3371271" y="3278367"/>
                  <a:pt x="3336159" y="3066813"/>
                  <a:pt x="3258895" y="2861397"/>
                </a:cubicBezTo>
                <a:lnTo>
                  <a:pt x="2725671" y="2062291"/>
                </a:lnTo>
                <a:lnTo>
                  <a:pt x="3552883" y="1486284"/>
                </a:lnTo>
                <a:cubicBezTo>
                  <a:pt x="3734716" y="1780754"/>
                  <a:pt x="4010062" y="2126176"/>
                  <a:pt x="4085819" y="2401657"/>
                </a:cubicBezTo>
                <a:cubicBezTo>
                  <a:pt x="4100783" y="2542124"/>
                  <a:pt x="4063549" y="2649298"/>
                  <a:pt x="3948285" y="283402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/>
          </a:p>
        </p:txBody>
      </p:sp>
      <p:sp>
        <p:nvSpPr>
          <p:cNvPr id="65" name="Donut 15">
            <a:extLst>
              <a:ext uri="{FF2B5EF4-FFF2-40B4-BE49-F238E27FC236}">
                <a16:creationId xmlns:a16="http://schemas.microsoft.com/office/drawing/2014/main" id="{19205F4D-4492-4EFA-82B7-82CC9BCDD2FA}"/>
              </a:ext>
            </a:extLst>
          </p:cNvPr>
          <p:cNvSpPr/>
          <p:nvPr/>
        </p:nvSpPr>
        <p:spPr>
          <a:xfrm>
            <a:off x="4684884" y="2886186"/>
            <a:ext cx="412117" cy="413850"/>
          </a:xfrm>
          <a:custGeom>
            <a:avLst/>
            <a:gdLst/>
            <a:ahLst/>
            <a:cxnLst/>
            <a:rect l="l" t="t" r="r" b="b"/>
            <a:pathLst>
              <a:path w="3821708" h="3795110">
                <a:moveTo>
                  <a:pt x="1910854" y="903842"/>
                </a:moveTo>
                <a:lnTo>
                  <a:pt x="1793831" y="1129420"/>
                </a:lnTo>
                <a:lnTo>
                  <a:pt x="1791613" y="1129420"/>
                </a:lnTo>
                <a:lnTo>
                  <a:pt x="1791892" y="1133157"/>
                </a:lnTo>
                <a:lnTo>
                  <a:pt x="1791613" y="1133695"/>
                </a:lnTo>
                <a:lnTo>
                  <a:pt x="1791933" y="1133695"/>
                </a:lnTo>
                <a:lnTo>
                  <a:pt x="1833002" y="1683464"/>
                </a:lnTo>
                <a:cubicBezTo>
                  <a:pt x="1744939" y="1714584"/>
                  <a:pt x="1682254" y="1798749"/>
                  <a:pt x="1682254" y="1897555"/>
                </a:cubicBezTo>
                <a:cubicBezTo>
                  <a:pt x="1682254" y="2023808"/>
                  <a:pt x="1784602" y="2126156"/>
                  <a:pt x="1910855" y="2126156"/>
                </a:cubicBezTo>
                <a:cubicBezTo>
                  <a:pt x="1975561" y="2126156"/>
                  <a:pt x="2033988" y="2099273"/>
                  <a:pt x="2075304" y="2055803"/>
                </a:cubicBezTo>
                <a:lnTo>
                  <a:pt x="2443125" y="2288080"/>
                </a:lnTo>
                <a:lnTo>
                  <a:pt x="2443003" y="2288309"/>
                </a:lnTo>
                <a:lnTo>
                  <a:pt x="2443494" y="2288314"/>
                </a:lnTo>
                <a:lnTo>
                  <a:pt x="2446061" y="2289935"/>
                </a:lnTo>
                <a:lnTo>
                  <a:pt x="2446904" y="2288348"/>
                </a:lnTo>
                <a:lnTo>
                  <a:pt x="2652725" y="2290436"/>
                </a:lnTo>
                <a:lnTo>
                  <a:pt x="2535900" y="2120971"/>
                </a:lnTo>
                <a:lnTo>
                  <a:pt x="2536744" y="2119385"/>
                </a:lnTo>
                <a:lnTo>
                  <a:pt x="2533964" y="2118163"/>
                </a:lnTo>
                <a:lnTo>
                  <a:pt x="2533686" y="2117759"/>
                </a:lnTo>
                <a:lnTo>
                  <a:pt x="2533565" y="2117988"/>
                </a:lnTo>
                <a:lnTo>
                  <a:pt x="2134900" y="1942755"/>
                </a:lnTo>
                <a:cubicBezTo>
                  <a:pt x="2137918" y="1928156"/>
                  <a:pt x="2139456" y="1913035"/>
                  <a:pt x="2139456" y="1897555"/>
                </a:cubicBezTo>
                <a:cubicBezTo>
                  <a:pt x="2139456" y="1798748"/>
                  <a:pt x="2076770" y="1714583"/>
                  <a:pt x="1988706" y="1683463"/>
                </a:cubicBezTo>
                <a:lnTo>
                  <a:pt x="2029775" y="1133695"/>
                </a:lnTo>
                <a:lnTo>
                  <a:pt x="2030094" y="1133695"/>
                </a:lnTo>
                <a:lnTo>
                  <a:pt x="2029815" y="1133157"/>
                </a:lnTo>
                <a:lnTo>
                  <a:pt x="2030094" y="1129420"/>
                </a:lnTo>
                <a:lnTo>
                  <a:pt x="2027877" y="1129420"/>
                </a:lnTo>
                <a:close/>
                <a:moveTo>
                  <a:pt x="1910854" y="565406"/>
                </a:moveTo>
                <a:cubicBezTo>
                  <a:pt x="2646579" y="565406"/>
                  <a:pt x="3243002" y="1161829"/>
                  <a:pt x="3243002" y="1897554"/>
                </a:cubicBezTo>
                <a:cubicBezTo>
                  <a:pt x="3243002" y="2633279"/>
                  <a:pt x="2646579" y="3229702"/>
                  <a:pt x="1910854" y="3229702"/>
                </a:cubicBezTo>
                <a:cubicBezTo>
                  <a:pt x="1175129" y="3229702"/>
                  <a:pt x="578706" y="2633279"/>
                  <a:pt x="578706" y="1897554"/>
                </a:cubicBezTo>
                <a:cubicBezTo>
                  <a:pt x="578706" y="1161829"/>
                  <a:pt x="1175129" y="565406"/>
                  <a:pt x="1910854" y="565406"/>
                </a:cubicBezTo>
                <a:close/>
                <a:moveTo>
                  <a:pt x="1766837" y="367010"/>
                </a:moveTo>
                <a:cubicBezTo>
                  <a:pt x="1050362" y="432397"/>
                  <a:pt x="475174" y="981146"/>
                  <a:pt x="377476" y="1681610"/>
                </a:cubicBezTo>
                <a:lnTo>
                  <a:pt x="426306" y="1681610"/>
                </a:lnTo>
                <a:cubicBezTo>
                  <a:pt x="510474" y="1681610"/>
                  <a:pt x="578706" y="1746088"/>
                  <a:pt x="578706" y="1825626"/>
                </a:cubicBezTo>
                <a:cubicBezTo>
                  <a:pt x="578706" y="1905164"/>
                  <a:pt x="510474" y="1969642"/>
                  <a:pt x="426306" y="1969642"/>
                </a:cubicBezTo>
                <a:lnTo>
                  <a:pt x="364094" y="1969642"/>
                </a:lnTo>
                <a:cubicBezTo>
                  <a:pt x="398055" y="2738400"/>
                  <a:pt x="1003246" y="3359660"/>
                  <a:pt x="1769417" y="3427809"/>
                </a:cubicBezTo>
                <a:lnTo>
                  <a:pt x="1769417" y="3382101"/>
                </a:lnTo>
                <a:cubicBezTo>
                  <a:pt x="1769417" y="3297933"/>
                  <a:pt x="1833895" y="3229701"/>
                  <a:pt x="1913433" y="3229701"/>
                </a:cubicBezTo>
                <a:cubicBezTo>
                  <a:pt x="1992971" y="3229701"/>
                  <a:pt x="2057449" y="3297933"/>
                  <a:pt x="2057449" y="3382101"/>
                </a:cubicBezTo>
                <a:lnTo>
                  <a:pt x="2057449" y="3427707"/>
                </a:lnTo>
                <a:cubicBezTo>
                  <a:pt x="2804164" y="3358467"/>
                  <a:pt x="3396856" y="2764020"/>
                  <a:pt x="3455018" y="2020616"/>
                </a:cubicBezTo>
                <a:lnTo>
                  <a:pt x="3395402" y="2020616"/>
                </a:lnTo>
                <a:cubicBezTo>
                  <a:pt x="3311234" y="2020616"/>
                  <a:pt x="3243002" y="1956138"/>
                  <a:pt x="3243002" y="1876600"/>
                </a:cubicBezTo>
                <a:cubicBezTo>
                  <a:pt x="3243002" y="1797062"/>
                  <a:pt x="3311234" y="1732584"/>
                  <a:pt x="3395402" y="1732584"/>
                </a:cubicBezTo>
                <a:lnTo>
                  <a:pt x="3451747" y="1732584"/>
                </a:lnTo>
                <a:cubicBezTo>
                  <a:pt x="3374444" y="1008025"/>
                  <a:pt x="2788738" y="434055"/>
                  <a:pt x="2054869" y="367632"/>
                </a:cubicBezTo>
                <a:lnTo>
                  <a:pt x="2054869" y="407296"/>
                </a:lnTo>
                <a:cubicBezTo>
                  <a:pt x="2054869" y="491464"/>
                  <a:pt x="1990391" y="559696"/>
                  <a:pt x="1910853" y="559696"/>
                </a:cubicBezTo>
                <a:cubicBezTo>
                  <a:pt x="1831315" y="559696"/>
                  <a:pt x="1766837" y="491464"/>
                  <a:pt x="1766837" y="407296"/>
                </a:cubicBezTo>
                <a:close/>
                <a:moveTo>
                  <a:pt x="1910854" y="0"/>
                </a:moveTo>
                <a:cubicBezTo>
                  <a:pt x="2966190" y="0"/>
                  <a:pt x="3821708" y="849564"/>
                  <a:pt x="3821708" y="1897555"/>
                </a:cubicBezTo>
                <a:cubicBezTo>
                  <a:pt x="3821708" y="2945546"/>
                  <a:pt x="2966190" y="3795110"/>
                  <a:pt x="1910854" y="3795110"/>
                </a:cubicBezTo>
                <a:cubicBezTo>
                  <a:pt x="855518" y="3795110"/>
                  <a:pt x="0" y="2945546"/>
                  <a:pt x="0" y="1897555"/>
                </a:cubicBezTo>
                <a:cubicBezTo>
                  <a:pt x="0" y="849564"/>
                  <a:pt x="855518" y="0"/>
                  <a:pt x="191085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>
              <a:solidFill>
                <a:schemeClr val="tx1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146422" y="1475480"/>
            <a:ext cx="1111275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DAX Measures:</a:t>
            </a:r>
          </a:p>
          <a:p>
            <a:endParaRPr lang="en-US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Average Ticket Price </a:t>
            </a:r>
            <a:endParaRPr lang="en-US" altLang="en-US" sz="24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buFont typeface="Wingdings" panose="05000000000000000000" pitchFamily="2" charset="2"/>
              <a:buChar char="v"/>
            </a:pPr>
            <a:endParaRPr lang="en-US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Cheapest Airline </a:t>
            </a:r>
            <a:endParaRPr lang="en-US" altLang="en-US" sz="24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buFont typeface="Wingdings" panose="05000000000000000000" pitchFamily="2" charset="2"/>
              <a:buChar char="v"/>
            </a:pPr>
            <a:endParaRPr lang="en-US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Most Expensive </a:t>
            </a:r>
            <a:r>
              <a:rPr lang="en-US" alt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Route</a:t>
            </a:r>
          </a:p>
          <a:p>
            <a:pPr lvl="0"/>
            <a:endParaRPr lang="en-US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Price vs Days Left Trend </a:t>
            </a:r>
            <a:endParaRPr lang="en-US" altLang="en-US" sz="24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buFont typeface="Wingdings" panose="05000000000000000000" pitchFamily="2" charset="2"/>
              <a:buChar char="v"/>
            </a:pPr>
            <a:endParaRPr lang="en-US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% of Non-stop Flights </a:t>
            </a:r>
          </a:p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9853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7539391" y="401216"/>
            <a:ext cx="4030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Dashboard Layout</a:t>
            </a:r>
            <a:endParaRPr lang="en-US" sz="3600" b="1" dirty="0">
              <a:solidFill>
                <a:schemeClr val="tx2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1602" y="1285758"/>
            <a:ext cx="43107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>
                <a:latin typeface="Times New Roman" pitchFamily="18" charset="0"/>
                <a:cs typeface="Times New Roman" pitchFamily="18" charset="0"/>
              </a:rPr>
              <a:t>Dashboard 1: </a:t>
            </a:r>
            <a:r>
              <a:rPr lang="en-IN" sz="2200" b="1" dirty="0" smtClean="0">
                <a:latin typeface="Times New Roman" pitchFamily="18" charset="0"/>
                <a:cs typeface="Times New Roman" pitchFamily="18" charset="0"/>
              </a:rPr>
              <a:t>KPI’s  </a:t>
            </a:r>
            <a:r>
              <a:rPr lang="en-IN" sz="2200" b="1" dirty="0">
                <a:latin typeface="Times New Roman" pitchFamily="18" charset="0"/>
                <a:cs typeface="Times New Roman" pitchFamily="18" charset="0"/>
              </a:rPr>
              <a:t>Summary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140" y="1716645"/>
            <a:ext cx="10591800" cy="4674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863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7931020" y="325777"/>
            <a:ext cx="4030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Dashboard Layout</a:t>
            </a:r>
            <a:endParaRPr lang="en-US" sz="3600" b="1" dirty="0">
              <a:solidFill>
                <a:schemeClr val="tx2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082" y="1523998"/>
            <a:ext cx="10572750" cy="4657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863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  <a:endParaRPr lang="en-US" b="1" dirty="0">
              <a:solidFill>
                <a:schemeClr val="tx2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8497" y="2393613"/>
            <a:ext cx="114859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This analysis provides valuable insights into airline pricing strategies and customer booking behavior. It helps users make better travel decisions and allows businesses to optimize pricing and service offerings.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6993" y="1776401"/>
            <a:ext cx="3711482" cy="363379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10416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ustom 5">
      <a:majorFont>
        <a:latin typeface="Roboto Slab"/>
        <a:ea typeface=""/>
        <a:cs typeface=""/>
      </a:majorFont>
      <a:minorFont>
        <a:latin typeface="Roboto Slab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3575</TotalTime>
  <Words>540</Words>
  <Application>Microsoft Office PowerPoint</Application>
  <PresentationFormat>Widescreen</PresentationFormat>
  <Paragraphs>95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Calibri</vt:lpstr>
      <vt:lpstr>Wingdings</vt:lpstr>
      <vt:lpstr>Roboto Slab</vt:lpstr>
      <vt:lpstr>Times New Roman</vt:lpstr>
      <vt:lpstr>Arial</vt:lpstr>
      <vt:lpstr>Office Theme</vt:lpstr>
      <vt:lpstr>Topic:Airline Dataset Analysis</vt:lpstr>
      <vt:lpstr>Contents</vt:lpstr>
      <vt:lpstr>Introduction</vt:lpstr>
      <vt:lpstr>Problem Statement</vt:lpstr>
      <vt:lpstr>Objectives</vt:lpstr>
      <vt:lpstr>Dataset Overview</vt:lpstr>
      <vt:lpstr>Knowledge keywords</vt:lpstr>
      <vt:lpstr>Approach</vt:lpstr>
      <vt:lpstr>PowerPoint Presentation</vt:lpstr>
      <vt:lpstr>PowerPoint Presentation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Dell</cp:lastModifiedBy>
  <cp:revision>320</cp:revision>
  <dcterms:created xsi:type="dcterms:W3CDTF">2020-01-23T06:03:51Z</dcterms:created>
  <dcterms:modified xsi:type="dcterms:W3CDTF">2026-03-31T07:04:06Z</dcterms:modified>
</cp:coreProperties>
</file>